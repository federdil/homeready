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HomeReady is an AI-powered companion for first-time buyers. Open with the personal story: 'When was the last time you helped a friend buy their first home? What they went through is what 400,000 people experience every year in this country — largely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a real story if you have one. The four cards map to the core problem statements from the PRD. Emphasise that all four of these happen to the SAME buyer, in sequence, over 12–18 months. The experience is cumulative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now' question is one of the first things a VC will ask. You need all three of these. AI capability is table stakes — every startup says this. The regulatory tailwind and the unowned journey are your differentiators.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go feature by feature. Lead with the journey metaphor — 'HomeReady knows where you are, what decisions you have made, and what is coming next.' The feature grid shows breadth without needing to explain each one. Demo the listing decoder live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TAM. The UK alone is not a unicorn market — say so. The pitch is: UK is the proof of concept, Commonwealth expansion doubles it, and the homeowner platform (remortgage, maintenance, next move) multiplies LTV. The investor you want already understands this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B2B2C — it solves the distribution problem AND generates revenue simultaneously. Direct subscription is the long-term flywheel once brand is established. Explicitly say you will NOT do referral fees — it would undermine the core independence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question here is: 'what is your unfair distribution advantage?' The answer is twofold: community trust (you are not a bank or an estate agent, so users trust you) and broker partnerships (reaching buyers at exactly the right moment, endorsed by a professional they already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don't have these exact numbers yet, replace them with your real numbers or mark as 'target'. The most important signal here is willingness to pay — £200 stated WTP vs £144 annual subscription price is a strong conversion signal. NPS of 68 is excellent for a product this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question here: 'What stops Rightmove from building this?' Answer: structural conflict of interest. Rightmove's customers are estate agents, not buyers. They cannot credibly tell users a listing is misleading — that would kill their ad revenue. HomeReady's independence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retention question: 'Monthly active users is the wrong metric for a journey product. A user who disappears for 3 months during conveyancing and returns at exchange is not churned — they are behaving exactly as expected. We measure milestone engagement, not daily logins.'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your number and defend it. £750K is enough to prove the model without asking for too much at pre-revenue stage. The pre-money valuation of £4.5M is justifiable on team, market, and early traction. Be prepared to say: 'We need a lead who can move in 6–8 weeks — we have two other conversations at term sheet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emotional close, not the financial one. The numbers are in their head. What you want them to feel leaving the room is: 'This is a real problem and these are the people to solve it.' Pause after 'almost entirely alone.'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5000"/>
          </a:blip>
          <a:stretch>
            <a:fillRect/>
          </a:stretch>
        </p:blipFill>
        <p:spPr>
          <a:xfrm>
            <a:off x="6217920" y="274320"/>
            <a:ext cx="2743200" cy="2743200"/>
          </a:xfrm>
          <a:prstGeom prst="rect">
            <a:avLst/>
          </a:prstGeom>
        </p:spPr>
      </p:pic>
      <p:sp>
        <p:nvSpPr>
          <p:cNvPr id="3" name="Text 0"/>
          <p:cNvSpPr/>
          <p:nvPr/>
        </p:nvSpPr>
        <p:spPr>
          <a:xfrm>
            <a:off x="502920" y="914400"/>
            <a:ext cx="59436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HomeReady</a:t>
            </a:r>
            <a:endParaRPr lang="en-US" sz="6000" dirty="0"/>
          </a:p>
        </p:txBody>
      </p:sp>
      <p:sp>
        <p:nvSpPr>
          <p:cNvPr id="4" name="Text 1"/>
          <p:cNvSpPr/>
          <p:nvPr/>
        </p:nvSpPr>
        <p:spPr>
          <a:xfrm>
            <a:off x="502920" y="2148840"/>
            <a:ext cx="6400800" cy="914400"/>
          </a:xfrm>
          <a:prstGeom prst="rect">
            <a:avLst/>
          </a:prstGeom>
          <a:noFill/>
          <a:ln/>
        </p:spPr>
        <p:txBody>
          <a:bodyPr wrap="square" lIns="0" tIns="0" rIns="0" bIns="0" rtlCol="0" anchor="ctr"/>
          <a:lstStyle/>
          <a:p>
            <a:pPr indent="0" marL="0">
              <a:buNone/>
            </a:pPr>
            <a:r>
              <a:rPr lang="en-US" sz="1800" dirty="0">
                <a:solidFill>
                  <a:srgbClr val="D6E8F7"/>
                </a:solidFill>
                <a:latin typeface="Arial" pitchFamily="34" charset="0"/>
                <a:ea typeface="Arial" pitchFamily="34" charset="-122"/>
                <a:cs typeface="Arial" pitchFamily="34" charset="-120"/>
              </a:rPr>
              <a:t>The AI companion that guides first-time buyers</a:t>
            </a:r>
            <a:endParaRPr lang="en-US" sz="1800" dirty="0"/>
          </a:p>
          <a:p>
            <a:pPr indent="0" marL="0">
              <a:buNone/>
            </a:pPr>
            <a:r>
              <a:rPr lang="en-US" sz="1800" dirty="0">
                <a:solidFill>
                  <a:srgbClr val="D6E8F7"/>
                </a:solidFill>
                <a:latin typeface="Arial" pitchFamily="34" charset="0"/>
                <a:ea typeface="Arial" pitchFamily="34" charset="-122"/>
                <a:cs typeface="Arial" pitchFamily="34" charset="-120"/>
              </a:rPr>
              <a:t>from first search to front door — and beyond.</a:t>
            </a:r>
            <a:endParaRPr lang="en-US" sz="1800" dirty="0"/>
          </a:p>
        </p:txBody>
      </p:sp>
      <p:sp>
        <p:nvSpPr>
          <p:cNvPr id="5" name="Shape 2"/>
          <p:cNvSpPr/>
          <p:nvPr/>
        </p:nvSpPr>
        <p:spPr>
          <a:xfrm>
            <a:off x="502920" y="3246120"/>
            <a:ext cx="1097280" cy="45720"/>
          </a:xfrm>
          <a:prstGeom prst="rect">
            <a:avLst/>
          </a:prstGeom>
          <a:solidFill>
            <a:srgbClr val="3B82C4"/>
          </a:solidFill>
          <a:ln w="12700">
            <a:solidFill>
              <a:srgbClr val="3B82C4"/>
            </a:solidFill>
            <a:prstDash val="solid"/>
          </a:ln>
        </p:spPr>
      </p:sp>
      <p:sp>
        <p:nvSpPr>
          <p:cNvPr id="6" name="Text 3"/>
          <p:cNvSpPr/>
          <p:nvPr/>
        </p:nvSpPr>
        <p:spPr>
          <a:xfrm>
            <a:off x="502920" y="3429000"/>
            <a:ext cx="5486400" cy="32004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Seed Round  ·  June 2025  ·  Confidential</a:t>
            </a:r>
            <a:endParaRPr lang="en-US" sz="1100" dirty="0"/>
          </a:p>
        </p:txBody>
      </p:sp>
      <p:sp>
        <p:nvSpPr>
          <p:cNvPr id="7" name="Text 4"/>
          <p:cNvSpPr/>
          <p:nvPr/>
        </p:nvSpPr>
        <p:spPr>
          <a:xfrm>
            <a:off x="457200" y="4160520"/>
            <a:ext cx="2560320" cy="50292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400K</a:t>
            </a:r>
            <a:endParaRPr lang="en-US" sz="2400" dirty="0"/>
          </a:p>
        </p:txBody>
      </p:sp>
      <p:sp>
        <p:nvSpPr>
          <p:cNvPr id="8" name="Text 5"/>
          <p:cNvSpPr/>
          <p:nvPr/>
        </p:nvSpPr>
        <p:spPr>
          <a:xfrm>
            <a:off x="457200" y="4663440"/>
            <a:ext cx="256032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UK first-time buyers/year</a:t>
            </a:r>
            <a:endParaRPr lang="en-US" sz="1000" dirty="0"/>
          </a:p>
        </p:txBody>
      </p:sp>
      <p:sp>
        <p:nvSpPr>
          <p:cNvPr id="9" name="Text 6"/>
          <p:cNvSpPr/>
          <p:nvPr/>
        </p:nvSpPr>
        <p:spPr>
          <a:xfrm>
            <a:off x="3383280" y="4160520"/>
            <a:ext cx="2560320" cy="50292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£290K</a:t>
            </a:r>
            <a:endParaRPr lang="en-US" sz="2400" dirty="0"/>
          </a:p>
        </p:txBody>
      </p:sp>
      <p:sp>
        <p:nvSpPr>
          <p:cNvPr id="10" name="Text 7"/>
          <p:cNvSpPr/>
          <p:nvPr/>
        </p:nvSpPr>
        <p:spPr>
          <a:xfrm>
            <a:off x="3383280" y="4663440"/>
            <a:ext cx="256032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Avg purchase price</a:t>
            </a:r>
            <a:endParaRPr lang="en-US" sz="1000" dirty="0"/>
          </a:p>
        </p:txBody>
      </p:sp>
      <p:sp>
        <p:nvSpPr>
          <p:cNvPr id="11" name="Text 8"/>
          <p:cNvSpPr/>
          <p:nvPr/>
        </p:nvSpPr>
        <p:spPr>
          <a:xfrm>
            <a:off x="6309360" y="4160520"/>
            <a:ext cx="2560320" cy="50292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12–18mo</a:t>
            </a:r>
            <a:endParaRPr lang="en-US" sz="2400" dirty="0"/>
          </a:p>
        </p:txBody>
      </p:sp>
      <p:sp>
        <p:nvSpPr>
          <p:cNvPr id="12" name="Text 9"/>
          <p:cNvSpPr/>
          <p:nvPr/>
        </p:nvSpPr>
        <p:spPr>
          <a:xfrm>
            <a:off x="6309360" y="4663440"/>
            <a:ext cx="256032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Avg time to complete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4B"/>
        </a:solidFill>
      </p:bgPr>
    </p:bg>
    <p:spTree>
      <p:nvGrpSpPr>
        <p:cNvPr id="1" name=""/>
        <p:cNvGrpSpPr/>
        <p:nvPr/>
      </p:nvGrpSpPr>
      <p:grpSpPr>
        <a:xfrm>
          <a:off x="0" y="0"/>
          <a:ext cx="0" cy="0"/>
          <a:chOff x="0" y="0"/>
          <a:chExt cx="0" cy="0"/>
        </a:xfrm>
      </p:grpSpPr>
      <p:sp>
        <p:nvSpPr>
          <p:cNvPr id="2" name="Shape 0"/>
          <p:cNvSpPr/>
          <p:nvPr/>
        </p:nvSpPr>
        <p:spPr>
          <a:xfrm>
            <a:off x="365760" y="201168"/>
            <a:ext cx="1380744"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380744"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THE PROBLEM</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12</a:t>
            </a:r>
            <a:endParaRPr lang="en-US" sz="900" dirty="0"/>
          </a:p>
        </p:txBody>
      </p:sp>
      <p:sp>
        <p:nvSpPr>
          <p:cNvPr id="5" name="Text 3"/>
          <p:cNvSpPr/>
          <p:nvPr/>
        </p:nvSpPr>
        <p:spPr>
          <a:xfrm>
            <a:off x="457200" y="548640"/>
            <a:ext cx="82296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Buying your first home is the</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biggest financial decision of your life.</a:t>
            </a:r>
            <a:endParaRPr lang="en-US" sz="3000" dirty="0"/>
          </a:p>
        </p:txBody>
      </p:sp>
      <p:sp>
        <p:nvSpPr>
          <p:cNvPr id="6" name="Text 4"/>
          <p:cNvSpPr/>
          <p:nvPr/>
        </p:nvSpPr>
        <p:spPr>
          <a:xfrm>
            <a:off x="457200" y="1691640"/>
            <a:ext cx="8229600" cy="457200"/>
          </a:xfrm>
          <a:prstGeom prst="rect">
            <a:avLst/>
          </a:prstGeom>
          <a:noFill/>
          <a:ln/>
        </p:spPr>
        <p:txBody>
          <a:bodyPr wrap="square" lIns="0" tIns="0" rIns="0" bIns="0" rtlCol="0" anchor="ctr"/>
          <a:lstStyle/>
          <a:p>
            <a:pPr algn="ctr" indent="0" marL="0">
              <a:buNone/>
            </a:pPr>
            <a:r>
              <a:rPr lang="en-US" sz="2000" i="1" dirty="0">
                <a:solidFill>
                  <a:srgbClr val="F59E0B"/>
                </a:solidFill>
                <a:latin typeface="Cambria" pitchFamily="34" charset="0"/>
                <a:ea typeface="Cambria" pitchFamily="34" charset="-122"/>
                <a:cs typeface="Cambria" pitchFamily="34" charset="-120"/>
              </a:rPr>
              <a:t>You navigate it almost entirely alone.</a:t>
            </a:r>
            <a:endParaRPr lang="en-US" sz="2000" dirty="0"/>
          </a:p>
        </p:txBody>
      </p:sp>
      <p:sp>
        <p:nvSpPr>
          <p:cNvPr id="7" name="Shape 5"/>
          <p:cNvSpPr/>
          <p:nvPr/>
        </p:nvSpPr>
        <p:spPr>
          <a:xfrm>
            <a:off x="320040" y="2423160"/>
            <a:ext cx="1965960" cy="2331720"/>
          </a:xfrm>
          <a:prstGeom prst="rect">
            <a:avLst>
              <a:gd name="adj" fmla="val 3721"/>
            </a:avLst>
          </a:prstGeom>
          <a:solidFill>
            <a:srgbClr val="1E2D4A"/>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1046988" y="2596896"/>
            <a:ext cx="512064" cy="512064"/>
          </a:xfrm>
          <a:prstGeom prst="ellipse">
            <a:avLst/>
          </a:prstGeom>
          <a:solidFill>
            <a:srgbClr val="D97706"/>
          </a:solidFill>
          <a:ln w="12700">
            <a:solidFill>
              <a:srgbClr val="D97706"/>
            </a:solidFill>
            <a:prstDash val="solid"/>
          </a:ln>
        </p:spPr>
      </p:sp>
      <p:sp>
        <p:nvSpPr>
          <p:cNvPr id="9" name="Text 7"/>
          <p:cNvSpPr/>
          <p:nvPr/>
        </p:nvSpPr>
        <p:spPr>
          <a:xfrm>
            <a:off x="320040" y="3200400"/>
            <a:ext cx="19659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Hidden costs</a:t>
            </a:r>
            <a:endParaRPr lang="en-US" sz="1200" dirty="0"/>
          </a:p>
        </p:txBody>
      </p:sp>
      <p:sp>
        <p:nvSpPr>
          <p:cNvPr id="10" name="Text 8"/>
          <p:cNvSpPr/>
          <p:nvPr/>
        </p:nvSpPr>
        <p:spPr>
          <a:xfrm>
            <a:off x="411480" y="3547872"/>
            <a:ext cx="1783080" cy="1051560"/>
          </a:xfrm>
          <a:prstGeom prst="rect">
            <a:avLst/>
          </a:prstGeom>
          <a:noFill/>
          <a:ln/>
        </p:spPr>
        <p:txBody>
          <a:bodyPr wrap="square" lIns="0" tIns="0" rIns="0" bIns="0" rtlCol="0" anchor="ctr"/>
          <a:lstStyle/>
          <a:p>
            <a:pPr algn="ctr" indent="0" marL="0">
              <a:buNone/>
            </a:pPr>
            <a:r>
              <a:rPr lang="en-US" sz="1000" dirty="0">
                <a:solidFill>
                  <a:srgbClr val="D6E8F7"/>
                </a:solidFill>
                <a:latin typeface="Arial" pitchFamily="34" charset="0"/>
                <a:ea typeface="Arial" pitchFamily="34" charset="-122"/>
                <a:cs typeface="Arial" pitchFamily="34" charset="-120"/>
              </a:rPr>
              <a:t>Buyers underestimate total acquisition cost by 10–15%. Nobody shows the full picture upfront.</a:t>
            </a:r>
            <a:endParaRPr lang="en-US" sz="1000" dirty="0"/>
          </a:p>
        </p:txBody>
      </p:sp>
      <p:sp>
        <p:nvSpPr>
          <p:cNvPr id="11" name="Shape 9"/>
          <p:cNvSpPr/>
          <p:nvPr/>
        </p:nvSpPr>
        <p:spPr>
          <a:xfrm>
            <a:off x="2468880" y="2423160"/>
            <a:ext cx="1965960" cy="2331720"/>
          </a:xfrm>
          <a:prstGeom prst="rect">
            <a:avLst>
              <a:gd name="adj" fmla="val 3721"/>
            </a:avLst>
          </a:prstGeom>
          <a:solidFill>
            <a:srgbClr val="1E2D4A"/>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195828" y="2596896"/>
            <a:ext cx="512064" cy="512064"/>
          </a:xfrm>
          <a:prstGeom prst="ellipse">
            <a:avLst/>
          </a:prstGeom>
          <a:solidFill>
            <a:srgbClr val="3B82C4"/>
          </a:solidFill>
          <a:ln w="12700">
            <a:solidFill>
              <a:srgbClr val="3B82C4"/>
            </a:solidFill>
            <a:prstDash val="solid"/>
          </a:ln>
        </p:spPr>
      </p:sp>
      <p:sp>
        <p:nvSpPr>
          <p:cNvPr id="13" name="Text 11"/>
          <p:cNvSpPr/>
          <p:nvPr/>
        </p:nvSpPr>
        <p:spPr>
          <a:xfrm>
            <a:off x="2468880" y="3200400"/>
            <a:ext cx="19659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Legal black box</a:t>
            </a:r>
            <a:endParaRPr lang="en-US" sz="1200" dirty="0"/>
          </a:p>
        </p:txBody>
      </p:sp>
      <p:sp>
        <p:nvSpPr>
          <p:cNvPr id="14" name="Text 12"/>
          <p:cNvSpPr/>
          <p:nvPr/>
        </p:nvSpPr>
        <p:spPr>
          <a:xfrm>
            <a:off x="2560320" y="3547872"/>
            <a:ext cx="1783080" cy="1051560"/>
          </a:xfrm>
          <a:prstGeom prst="rect">
            <a:avLst/>
          </a:prstGeom>
          <a:noFill/>
          <a:ln/>
        </p:spPr>
        <p:txBody>
          <a:bodyPr wrap="square" lIns="0" tIns="0" rIns="0" bIns="0" rtlCol="0" anchor="ctr"/>
          <a:lstStyle/>
          <a:p>
            <a:pPr algn="ctr" indent="0" marL="0">
              <a:buNone/>
            </a:pPr>
            <a:r>
              <a:rPr lang="en-US" sz="1000" dirty="0">
                <a:solidFill>
                  <a:srgbClr val="D6E8F7"/>
                </a:solidFill>
                <a:latin typeface="Arial" pitchFamily="34" charset="0"/>
                <a:ea typeface="Arial" pitchFamily="34" charset="-122"/>
                <a:cs typeface="Arial" pitchFamily="34" charset="-120"/>
              </a:rPr>
              <a:t>Dense contracts, survey reports, and title documents signed without real understanding.</a:t>
            </a:r>
            <a:endParaRPr lang="en-US" sz="1000" dirty="0"/>
          </a:p>
        </p:txBody>
      </p:sp>
      <p:sp>
        <p:nvSpPr>
          <p:cNvPr id="15" name="Shape 13"/>
          <p:cNvSpPr/>
          <p:nvPr/>
        </p:nvSpPr>
        <p:spPr>
          <a:xfrm>
            <a:off x="4617720" y="2423160"/>
            <a:ext cx="1965960" cy="2331720"/>
          </a:xfrm>
          <a:prstGeom prst="rect">
            <a:avLst>
              <a:gd name="adj" fmla="val 3721"/>
            </a:avLst>
          </a:prstGeom>
          <a:solidFill>
            <a:srgbClr val="1E2D4A"/>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5344668" y="2596896"/>
            <a:ext cx="512064" cy="512064"/>
          </a:xfrm>
          <a:prstGeom prst="ellipse">
            <a:avLst/>
          </a:prstGeom>
          <a:solidFill>
            <a:srgbClr val="059669"/>
          </a:solidFill>
          <a:ln w="12700">
            <a:solidFill>
              <a:srgbClr val="059669"/>
            </a:solidFill>
            <a:prstDash val="solid"/>
          </a:ln>
        </p:spPr>
      </p:sp>
      <p:sp>
        <p:nvSpPr>
          <p:cNvPr id="17" name="Text 15"/>
          <p:cNvSpPr/>
          <p:nvPr/>
        </p:nvSpPr>
        <p:spPr>
          <a:xfrm>
            <a:off x="4617720" y="3200400"/>
            <a:ext cx="19659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Process opacity</a:t>
            </a:r>
            <a:endParaRPr lang="en-US" sz="1200" dirty="0"/>
          </a:p>
        </p:txBody>
      </p:sp>
      <p:sp>
        <p:nvSpPr>
          <p:cNvPr id="18" name="Text 16"/>
          <p:cNvSpPr/>
          <p:nvPr/>
        </p:nvSpPr>
        <p:spPr>
          <a:xfrm>
            <a:off x="4709160" y="3547872"/>
            <a:ext cx="1783080" cy="1051560"/>
          </a:xfrm>
          <a:prstGeom prst="rect">
            <a:avLst/>
          </a:prstGeom>
          <a:noFill/>
          <a:ln/>
        </p:spPr>
        <p:txBody>
          <a:bodyPr wrap="square" lIns="0" tIns="0" rIns="0" bIns="0" rtlCol="0" anchor="ctr"/>
          <a:lstStyle/>
          <a:p>
            <a:pPr algn="ctr" indent="0" marL="0">
              <a:buNone/>
            </a:pPr>
            <a:r>
              <a:rPr lang="en-US" sz="1000" dirty="0">
                <a:solidFill>
                  <a:srgbClr val="D6E8F7"/>
                </a:solidFill>
                <a:latin typeface="Arial" pitchFamily="34" charset="0"/>
                <a:ea typeface="Arial" pitchFamily="34" charset="-122"/>
                <a:cs typeface="Arial" pitchFamily="34" charset="-120"/>
              </a:rPr>
              <a:t>Conveyancing takes 3–6 months with almost no visibility into what is happening or why.</a:t>
            </a:r>
            <a:endParaRPr lang="en-US" sz="1000" dirty="0"/>
          </a:p>
        </p:txBody>
      </p:sp>
      <p:sp>
        <p:nvSpPr>
          <p:cNvPr id="19" name="Shape 17"/>
          <p:cNvSpPr/>
          <p:nvPr/>
        </p:nvSpPr>
        <p:spPr>
          <a:xfrm>
            <a:off x="6766560" y="2423160"/>
            <a:ext cx="1965960" cy="2331720"/>
          </a:xfrm>
          <a:prstGeom prst="rect">
            <a:avLst>
              <a:gd name="adj" fmla="val 3721"/>
            </a:avLst>
          </a:prstGeom>
          <a:solidFill>
            <a:srgbClr val="1E2D4A"/>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7493508" y="2596896"/>
            <a:ext cx="512064" cy="512064"/>
          </a:xfrm>
          <a:prstGeom prst="ellipse">
            <a:avLst/>
          </a:prstGeom>
          <a:solidFill>
            <a:srgbClr val="F59E0B"/>
          </a:solidFill>
          <a:ln w="12700">
            <a:solidFill>
              <a:srgbClr val="F59E0B"/>
            </a:solidFill>
            <a:prstDash val="solid"/>
          </a:ln>
        </p:spPr>
      </p:sp>
      <p:sp>
        <p:nvSpPr>
          <p:cNvPr id="21" name="Text 19"/>
          <p:cNvSpPr/>
          <p:nvPr/>
        </p:nvSpPr>
        <p:spPr>
          <a:xfrm>
            <a:off x="6766560" y="3200400"/>
            <a:ext cx="19659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 negotiation help</a:t>
            </a:r>
            <a:endParaRPr lang="en-US" sz="1200" dirty="0"/>
          </a:p>
        </p:txBody>
      </p:sp>
      <p:sp>
        <p:nvSpPr>
          <p:cNvPr id="22" name="Text 20"/>
          <p:cNvSpPr/>
          <p:nvPr/>
        </p:nvSpPr>
        <p:spPr>
          <a:xfrm>
            <a:off x="6858000" y="3547872"/>
            <a:ext cx="1783080" cy="1051560"/>
          </a:xfrm>
          <a:prstGeom prst="rect">
            <a:avLst/>
          </a:prstGeom>
          <a:noFill/>
          <a:ln/>
        </p:spPr>
        <p:txBody>
          <a:bodyPr wrap="square" lIns="0" tIns="0" rIns="0" bIns="0" rtlCol="0" anchor="ctr"/>
          <a:lstStyle/>
          <a:p>
            <a:pPr algn="ctr" indent="0" marL="0">
              <a:buNone/>
            </a:pPr>
            <a:r>
              <a:rPr lang="en-US" sz="1000" dirty="0">
                <a:solidFill>
                  <a:srgbClr val="D6E8F7"/>
                </a:solidFill>
                <a:latin typeface="Arial" pitchFamily="34" charset="0"/>
                <a:ea typeface="Arial" pitchFamily="34" charset="-122"/>
                <a:cs typeface="Arial" pitchFamily="34" charset="-120"/>
              </a:rPr>
              <a:t>First-time buyers never negotiate large purchases. There is nobody in their corner.</a:t>
            </a:r>
            <a:endParaRPr lang="en-US" sz="1000" dirty="0"/>
          </a:p>
        </p:txBody>
      </p:sp>
      <p:pic>
        <p:nvPicPr>
          <p:cNvPr id="24" name="Image 0" descr="preencoded.png">    </p:cNvPr>
          <p:cNvPicPr>
            <a:picLocks noChangeAspect="1"/>
          </p:cNvPicPr>
          <p:nvPr/>
        </p:nvPicPr>
        <p:blipFill>
          <a:blip r:embed="rId1"/>
          <a:stretch>
            <a:fillRect/>
          </a:stretch>
        </p:blipFill>
        <p:spPr>
          <a:xfrm>
            <a:off x="1149401" y="2699309"/>
            <a:ext cx="307238" cy="307238"/>
          </a:xfrm>
          <a:prstGeom prst="rect">
            <a:avLst/>
          </a:prstGeom>
        </p:spPr>
      </p:pic>
      <p:pic>
        <p:nvPicPr>
          <p:cNvPr id="25" name="Image 1" descr="preencoded.png">    </p:cNvPr>
          <p:cNvPicPr>
            <a:picLocks noChangeAspect="1"/>
          </p:cNvPicPr>
          <p:nvPr/>
        </p:nvPicPr>
        <p:blipFill>
          <a:blip r:embed="rId2"/>
          <a:stretch>
            <a:fillRect/>
          </a:stretch>
        </p:blipFill>
        <p:spPr>
          <a:xfrm>
            <a:off x="5447081" y="2699309"/>
            <a:ext cx="307238" cy="307238"/>
          </a:xfrm>
          <a:prstGeom prst="rect">
            <a:avLst/>
          </a:prstGeom>
        </p:spPr>
      </p:pic>
      <p:pic>
        <p:nvPicPr>
          <p:cNvPr id="26" name="Image 2" descr="preencoded.png">    </p:cNvPr>
          <p:cNvPicPr>
            <a:picLocks noChangeAspect="1"/>
          </p:cNvPicPr>
          <p:nvPr/>
        </p:nvPicPr>
        <p:blipFill>
          <a:blip r:embed="rId3"/>
          <a:stretch>
            <a:fillRect/>
          </a:stretch>
        </p:blipFill>
        <p:spPr>
          <a:xfrm>
            <a:off x="3298241" y="2699309"/>
            <a:ext cx="307238" cy="307238"/>
          </a:xfrm>
          <a:prstGeom prst="rect">
            <a:avLst/>
          </a:prstGeom>
        </p:spPr>
      </p:pic>
      <p:pic>
        <p:nvPicPr>
          <p:cNvPr id="27" name="Image 3" descr="preencoded.png">    </p:cNvPr>
          <p:cNvPicPr>
            <a:picLocks noChangeAspect="1"/>
          </p:cNvPicPr>
          <p:nvPr/>
        </p:nvPicPr>
        <p:blipFill>
          <a:blip r:embed="rId4"/>
          <a:stretch>
            <a:fillRect/>
          </a:stretch>
        </p:blipFill>
        <p:spPr>
          <a:xfrm>
            <a:off x="7595921" y="2699309"/>
            <a:ext cx="307238" cy="3072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380744"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380744"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THE INSIGHT</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 / 12</a:t>
            </a:r>
            <a:endParaRPr lang="en-US" sz="900" dirty="0"/>
          </a:p>
        </p:txBody>
      </p:sp>
      <p:sp>
        <p:nvSpPr>
          <p:cNvPr id="5" name="Text 3"/>
          <p:cNvSpPr/>
          <p:nvPr/>
        </p:nvSpPr>
        <p:spPr>
          <a:xfrm>
            <a:off x="457200" y="502920"/>
            <a:ext cx="8229600" cy="548640"/>
          </a:xfrm>
          <a:prstGeom prst="rect">
            <a:avLst/>
          </a:prstGeom>
          <a:noFill/>
          <a:ln/>
        </p:spPr>
        <p:txBody>
          <a:bodyPr wrap="square" lIns="0" tIns="0" rIns="0" bIns="0" rtlCol="0" anchor="ctr"/>
          <a:lstStyle/>
          <a:p>
            <a:pPr indent="0" marL="0">
              <a:buNone/>
            </a:pPr>
            <a:r>
              <a:rPr lang="en-US" sz="3200" b="1" dirty="0">
                <a:solidFill>
                  <a:srgbClr val="0B1F4B"/>
                </a:solidFill>
                <a:latin typeface="Cambria" pitchFamily="34" charset="0"/>
                <a:ea typeface="Cambria" pitchFamily="34" charset="-122"/>
                <a:cs typeface="Cambria" pitchFamily="34" charset="-120"/>
              </a:rPr>
              <a:t>Why now?</a:t>
            </a:r>
            <a:endParaRPr lang="en-US" sz="3200" dirty="0"/>
          </a:p>
        </p:txBody>
      </p:sp>
      <p:sp>
        <p:nvSpPr>
          <p:cNvPr id="6" name="Text 4"/>
          <p:cNvSpPr/>
          <p:nvPr/>
        </p:nvSpPr>
        <p:spPr>
          <a:xfrm>
            <a:off x="457200" y="1051560"/>
            <a:ext cx="8229600" cy="36576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Three forces converging make this the right moment.</a:t>
            </a:r>
            <a:endParaRPr lang="en-US" sz="1400" dirty="0"/>
          </a:p>
        </p:txBody>
      </p:sp>
      <p:sp>
        <p:nvSpPr>
          <p:cNvPr id="7" name="Shape 5"/>
          <p:cNvSpPr/>
          <p:nvPr/>
        </p:nvSpPr>
        <p:spPr>
          <a:xfrm>
            <a:off x="365760" y="1600200"/>
            <a:ext cx="8412480" cy="960120"/>
          </a:xfrm>
          <a:prstGeom prst="rect">
            <a:avLst>
              <a:gd name="adj" fmla="val 7619"/>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704088" y="1824228"/>
            <a:ext cx="512064" cy="512064"/>
          </a:xfrm>
          <a:prstGeom prst="ellipse">
            <a:avLst/>
          </a:prstGeom>
          <a:solidFill>
            <a:srgbClr val="1A56A0"/>
          </a:solidFill>
          <a:ln w="12700">
            <a:solidFill>
              <a:srgbClr val="1A56A0"/>
            </a:solidFill>
            <a:prstDash val="solid"/>
          </a:ln>
        </p:spPr>
      </p:sp>
      <p:sp>
        <p:nvSpPr>
          <p:cNvPr id="9" name="Text 7"/>
          <p:cNvSpPr/>
          <p:nvPr/>
        </p:nvSpPr>
        <p:spPr>
          <a:xfrm>
            <a:off x="1508760" y="1691640"/>
            <a:ext cx="70408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AI is finally good enough</a:t>
            </a:r>
            <a:endParaRPr lang="en-US" sz="1300" dirty="0"/>
          </a:p>
        </p:txBody>
      </p:sp>
      <p:sp>
        <p:nvSpPr>
          <p:cNvPr id="10" name="Text 8"/>
          <p:cNvSpPr/>
          <p:nvPr/>
        </p:nvSpPr>
        <p:spPr>
          <a:xfrm>
            <a:off x="1508760" y="2020824"/>
            <a:ext cx="7040880" cy="43891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Large language models can now read a 40-page legal contract and explain it in plain English, accurately. This was not true three years ago. HomeReady is only possible now.</a:t>
            </a:r>
            <a:endParaRPr lang="en-US" sz="1100" dirty="0"/>
          </a:p>
        </p:txBody>
      </p:sp>
      <p:sp>
        <p:nvSpPr>
          <p:cNvPr id="11" name="Shape 9"/>
          <p:cNvSpPr/>
          <p:nvPr/>
        </p:nvSpPr>
        <p:spPr>
          <a:xfrm>
            <a:off x="365760" y="2697480"/>
            <a:ext cx="8412480" cy="960120"/>
          </a:xfrm>
          <a:prstGeom prst="rect">
            <a:avLst>
              <a:gd name="adj" fmla="val 7619"/>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704088" y="2921508"/>
            <a:ext cx="512064" cy="512064"/>
          </a:xfrm>
          <a:prstGeom prst="ellipse">
            <a:avLst/>
          </a:prstGeom>
          <a:solidFill>
            <a:srgbClr val="059669"/>
          </a:solidFill>
          <a:ln w="12700">
            <a:solidFill>
              <a:srgbClr val="059669"/>
            </a:solidFill>
            <a:prstDash val="solid"/>
          </a:ln>
        </p:spPr>
      </p:sp>
      <p:sp>
        <p:nvSpPr>
          <p:cNvPr id="13" name="Text 11"/>
          <p:cNvSpPr/>
          <p:nvPr/>
        </p:nvSpPr>
        <p:spPr>
          <a:xfrm>
            <a:off x="1508760" y="2788920"/>
            <a:ext cx="70408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Regulation is shifting in buyers' favour</a:t>
            </a:r>
            <a:endParaRPr lang="en-US" sz="1300" dirty="0"/>
          </a:p>
        </p:txBody>
      </p:sp>
      <p:sp>
        <p:nvSpPr>
          <p:cNvPr id="14" name="Text 12"/>
          <p:cNvSpPr/>
          <p:nvPr/>
        </p:nvSpPr>
        <p:spPr>
          <a:xfrm>
            <a:off x="1508760" y="3118104"/>
            <a:ext cx="7040880" cy="43891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The Leasehold Reform Act 2024, FCA Consumer Duty, and growing political pressure on estate agent transparency all create tailwinds. The market is being forced to become more transparent — HomeReady leads that shift.</a:t>
            </a:r>
            <a:endParaRPr lang="en-US" sz="1100" dirty="0"/>
          </a:p>
        </p:txBody>
      </p:sp>
      <p:sp>
        <p:nvSpPr>
          <p:cNvPr id="15" name="Shape 13"/>
          <p:cNvSpPr/>
          <p:nvPr/>
        </p:nvSpPr>
        <p:spPr>
          <a:xfrm>
            <a:off x="365760" y="3794760"/>
            <a:ext cx="8412480" cy="960120"/>
          </a:xfrm>
          <a:prstGeom prst="rect">
            <a:avLst>
              <a:gd name="adj" fmla="val 7619"/>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704088" y="4018788"/>
            <a:ext cx="512064" cy="512064"/>
          </a:xfrm>
          <a:prstGeom prst="ellipse">
            <a:avLst/>
          </a:prstGeom>
          <a:solidFill>
            <a:srgbClr val="D97706"/>
          </a:solidFill>
          <a:ln w="12700">
            <a:solidFill>
              <a:srgbClr val="D97706"/>
            </a:solidFill>
            <a:prstDash val="solid"/>
          </a:ln>
        </p:spPr>
      </p:sp>
      <p:sp>
        <p:nvSpPr>
          <p:cNvPr id="17" name="Text 15"/>
          <p:cNvSpPr/>
          <p:nvPr/>
        </p:nvSpPr>
        <p:spPr>
          <a:xfrm>
            <a:off x="1508760" y="3886200"/>
            <a:ext cx="7040880" cy="32004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The end-to-end journey is genuinely unowned</a:t>
            </a:r>
            <a:endParaRPr lang="en-US" sz="1300" dirty="0"/>
          </a:p>
        </p:txBody>
      </p:sp>
      <p:sp>
        <p:nvSpPr>
          <p:cNvPr id="18" name="Text 16"/>
          <p:cNvSpPr/>
          <p:nvPr/>
        </p:nvSpPr>
        <p:spPr>
          <a:xfrm>
            <a:off x="1508760" y="4215384"/>
            <a:ext cx="7040880" cy="438912"/>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Rightmove owns search. Banks own mortgages. Solicitors own conveyancing. Nobody owns the buyer. HomeReady is the connective tissue across all of these — and the only product whose interests are fully aligned with the buyer.</a:t>
            </a:r>
            <a:endParaRPr lang="en-US" sz="1100" dirty="0"/>
          </a:p>
        </p:txBody>
      </p:sp>
      <p:pic>
        <p:nvPicPr>
          <p:cNvPr id="20" name="Image 0" descr="preencoded.png">    </p:cNvPr>
          <p:cNvPicPr>
            <a:picLocks noChangeAspect="1"/>
          </p:cNvPicPr>
          <p:nvPr/>
        </p:nvPicPr>
        <p:blipFill>
          <a:blip r:embed="rId1"/>
          <a:stretch>
            <a:fillRect/>
          </a:stretch>
        </p:blipFill>
        <p:spPr>
          <a:xfrm>
            <a:off x="806501" y="1926641"/>
            <a:ext cx="307238" cy="307238"/>
          </a:xfrm>
          <a:prstGeom prst="rect">
            <a:avLst/>
          </a:prstGeom>
        </p:spPr>
      </p:pic>
      <p:pic>
        <p:nvPicPr>
          <p:cNvPr id="21" name="Image 1" descr="preencoded.png">    </p:cNvPr>
          <p:cNvPicPr>
            <a:picLocks noChangeAspect="1"/>
          </p:cNvPicPr>
          <p:nvPr/>
        </p:nvPicPr>
        <p:blipFill>
          <a:blip r:embed="rId2"/>
          <a:stretch>
            <a:fillRect/>
          </a:stretch>
        </p:blipFill>
        <p:spPr>
          <a:xfrm>
            <a:off x="806501" y="3023921"/>
            <a:ext cx="307238" cy="307238"/>
          </a:xfrm>
          <a:prstGeom prst="rect">
            <a:avLst/>
          </a:prstGeom>
        </p:spPr>
      </p:pic>
      <p:pic>
        <p:nvPicPr>
          <p:cNvPr id="22" name="Image 2" descr="preencoded.png">    </p:cNvPr>
          <p:cNvPicPr>
            <a:picLocks noChangeAspect="1"/>
          </p:cNvPicPr>
          <p:nvPr/>
        </p:nvPicPr>
        <p:blipFill>
          <a:blip r:embed="rId3"/>
          <a:stretch>
            <a:fillRect/>
          </a:stretch>
        </p:blipFill>
        <p:spPr>
          <a:xfrm>
            <a:off x="806501" y="4121201"/>
            <a:ext cx="307238" cy="3072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481328"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481328"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THE SOLUTION</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200" b="1" dirty="0">
                <a:solidFill>
                  <a:srgbClr val="0B1F4B"/>
                </a:solidFill>
                <a:latin typeface="Cambria" pitchFamily="34" charset="0"/>
                <a:ea typeface="Cambria" pitchFamily="34" charset="-122"/>
                <a:cs typeface="Cambria" pitchFamily="34" charset="-120"/>
              </a:rPr>
              <a:t>One companion. The whole journey.</a:t>
            </a:r>
            <a:endParaRPr lang="en-US" sz="3200" dirty="0"/>
          </a:p>
        </p:txBody>
      </p:sp>
      <p:sp>
        <p:nvSpPr>
          <p:cNvPr id="6" name="Shape 4"/>
          <p:cNvSpPr/>
          <p:nvPr/>
        </p:nvSpPr>
        <p:spPr>
          <a:xfrm>
            <a:off x="1261872" y="1691640"/>
            <a:ext cx="694944" cy="54864"/>
          </a:xfrm>
          <a:prstGeom prst="rect">
            <a:avLst/>
          </a:prstGeom>
          <a:solidFill>
            <a:srgbClr val="CBD5E1"/>
          </a:solidFill>
          <a:ln w="12700">
            <a:solidFill>
              <a:srgbClr val="CBD5E1"/>
            </a:solidFill>
            <a:prstDash val="solid"/>
          </a:ln>
        </p:spPr>
      </p:sp>
      <p:sp>
        <p:nvSpPr>
          <p:cNvPr id="7" name="Shape 5"/>
          <p:cNvSpPr/>
          <p:nvPr/>
        </p:nvSpPr>
        <p:spPr>
          <a:xfrm>
            <a:off x="566928" y="1371600"/>
            <a:ext cx="694944" cy="694944"/>
          </a:xfrm>
          <a:prstGeom prst="ellipse">
            <a:avLst/>
          </a:prstGeom>
          <a:solidFill>
            <a:srgbClr val="1A56A0"/>
          </a:solidFill>
          <a:ln w="12700">
            <a:solidFill>
              <a:srgbClr val="1A56A0"/>
            </a:solidFill>
            <a:prstDash val="solid"/>
          </a:ln>
        </p:spPr>
      </p:sp>
      <p:sp>
        <p:nvSpPr>
          <p:cNvPr id="8" name="Text 6"/>
          <p:cNvSpPr/>
          <p:nvPr/>
        </p:nvSpPr>
        <p:spPr>
          <a:xfrm>
            <a:off x="566928"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320040"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Financial</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Readiness</a:t>
            </a:r>
            <a:endParaRPr lang="en-US" sz="1000" dirty="0"/>
          </a:p>
        </p:txBody>
      </p:sp>
      <p:sp>
        <p:nvSpPr>
          <p:cNvPr id="10" name="Shape 8"/>
          <p:cNvSpPr/>
          <p:nvPr/>
        </p:nvSpPr>
        <p:spPr>
          <a:xfrm>
            <a:off x="2651760" y="1691640"/>
            <a:ext cx="694944" cy="54864"/>
          </a:xfrm>
          <a:prstGeom prst="rect">
            <a:avLst/>
          </a:prstGeom>
          <a:solidFill>
            <a:srgbClr val="CBD5E1"/>
          </a:solidFill>
          <a:ln w="12700">
            <a:solidFill>
              <a:srgbClr val="CBD5E1"/>
            </a:solidFill>
            <a:prstDash val="solid"/>
          </a:ln>
        </p:spPr>
      </p:sp>
      <p:sp>
        <p:nvSpPr>
          <p:cNvPr id="11" name="Shape 9"/>
          <p:cNvSpPr/>
          <p:nvPr/>
        </p:nvSpPr>
        <p:spPr>
          <a:xfrm>
            <a:off x="1956816" y="1371600"/>
            <a:ext cx="694944" cy="694944"/>
          </a:xfrm>
          <a:prstGeom prst="ellipse">
            <a:avLst/>
          </a:prstGeom>
          <a:solidFill>
            <a:srgbClr val="3B82C4"/>
          </a:solidFill>
          <a:ln w="12700">
            <a:solidFill>
              <a:srgbClr val="3B82C4"/>
            </a:solidFill>
            <a:prstDash val="solid"/>
          </a:ln>
        </p:spPr>
      </p:sp>
      <p:sp>
        <p:nvSpPr>
          <p:cNvPr id="12" name="Text 10"/>
          <p:cNvSpPr/>
          <p:nvPr/>
        </p:nvSpPr>
        <p:spPr>
          <a:xfrm>
            <a:off x="1956816"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709928"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Property</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Evaluation</a:t>
            </a:r>
            <a:endParaRPr lang="en-US" sz="1000" dirty="0"/>
          </a:p>
        </p:txBody>
      </p:sp>
      <p:sp>
        <p:nvSpPr>
          <p:cNvPr id="14" name="Shape 12"/>
          <p:cNvSpPr/>
          <p:nvPr/>
        </p:nvSpPr>
        <p:spPr>
          <a:xfrm>
            <a:off x="4041648" y="1691640"/>
            <a:ext cx="694944" cy="54864"/>
          </a:xfrm>
          <a:prstGeom prst="rect">
            <a:avLst/>
          </a:prstGeom>
          <a:solidFill>
            <a:srgbClr val="CBD5E1"/>
          </a:solidFill>
          <a:ln w="12700">
            <a:solidFill>
              <a:srgbClr val="CBD5E1"/>
            </a:solidFill>
            <a:prstDash val="solid"/>
          </a:ln>
        </p:spPr>
      </p:sp>
      <p:sp>
        <p:nvSpPr>
          <p:cNvPr id="15" name="Shape 13"/>
          <p:cNvSpPr/>
          <p:nvPr/>
        </p:nvSpPr>
        <p:spPr>
          <a:xfrm>
            <a:off x="3346704" y="1371600"/>
            <a:ext cx="694944" cy="694944"/>
          </a:xfrm>
          <a:prstGeom prst="ellipse">
            <a:avLst/>
          </a:prstGeom>
          <a:solidFill>
            <a:srgbClr val="2196A6"/>
          </a:solidFill>
          <a:ln w="12700">
            <a:solidFill>
              <a:srgbClr val="2196A6"/>
            </a:solidFill>
            <a:prstDash val="solid"/>
          </a:ln>
        </p:spPr>
      </p:sp>
      <p:sp>
        <p:nvSpPr>
          <p:cNvPr id="16" name="Text 14"/>
          <p:cNvSpPr/>
          <p:nvPr/>
        </p:nvSpPr>
        <p:spPr>
          <a:xfrm>
            <a:off x="3346704"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3099816"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Offer &amp;</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Negotiation</a:t>
            </a:r>
            <a:endParaRPr lang="en-US" sz="1000" dirty="0"/>
          </a:p>
        </p:txBody>
      </p:sp>
      <p:sp>
        <p:nvSpPr>
          <p:cNvPr id="18" name="Shape 16"/>
          <p:cNvSpPr/>
          <p:nvPr/>
        </p:nvSpPr>
        <p:spPr>
          <a:xfrm>
            <a:off x="5431536" y="1691640"/>
            <a:ext cx="694944" cy="54864"/>
          </a:xfrm>
          <a:prstGeom prst="rect">
            <a:avLst/>
          </a:prstGeom>
          <a:solidFill>
            <a:srgbClr val="CBD5E1"/>
          </a:solidFill>
          <a:ln w="12700">
            <a:solidFill>
              <a:srgbClr val="CBD5E1"/>
            </a:solidFill>
            <a:prstDash val="solid"/>
          </a:ln>
        </p:spPr>
      </p:sp>
      <p:sp>
        <p:nvSpPr>
          <p:cNvPr id="19" name="Shape 17"/>
          <p:cNvSpPr/>
          <p:nvPr/>
        </p:nvSpPr>
        <p:spPr>
          <a:xfrm>
            <a:off x="4736592" y="1371600"/>
            <a:ext cx="694944" cy="694944"/>
          </a:xfrm>
          <a:prstGeom prst="ellipse">
            <a:avLst/>
          </a:prstGeom>
          <a:solidFill>
            <a:srgbClr val="059669"/>
          </a:solidFill>
          <a:ln w="12700">
            <a:solidFill>
              <a:srgbClr val="059669"/>
            </a:solidFill>
            <a:prstDash val="solid"/>
          </a:ln>
        </p:spPr>
      </p:sp>
      <p:sp>
        <p:nvSpPr>
          <p:cNvPr id="20" name="Text 18"/>
          <p:cNvSpPr/>
          <p:nvPr/>
        </p:nvSpPr>
        <p:spPr>
          <a:xfrm>
            <a:off x="4736592"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4489704"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Legal &amp;</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Survey</a:t>
            </a:r>
            <a:endParaRPr lang="en-US" sz="1000" dirty="0"/>
          </a:p>
        </p:txBody>
      </p:sp>
      <p:sp>
        <p:nvSpPr>
          <p:cNvPr id="22" name="Shape 20"/>
          <p:cNvSpPr/>
          <p:nvPr/>
        </p:nvSpPr>
        <p:spPr>
          <a:xfrm>
            <a:off x="6821424" y="1691640"/>
            <a:ext cx="694944" cy="54864"/>
          </a:xfrm>
          <a:prstGeom prst="rect">
            <a:avLst/>
          </a:prstGeom>
          <a:solidFill>
            <a:srgbClr val="CBD5E1"/>
          </a:solidFill>
          <a:ln w="12700">
            <a:solidFill>
              <a:srgbClr val="CBD5E1"/>
            </a:solidFill>
            <a:prstDash val="solid"/>
          </a:ln>
        </p:spPr>
      </p:sp>
      <p:sp>
        <p:nvSpPr>
          <p:cNvPr id="23" name="Shape 21"/>
          <p:cNvSpPr/>
          <p:nvPr/>
        </p:nvSpPr>
        <p:spPr>
          <a:xfrm>
            <a:off x="6126480" y="1371600"/>
            <a:ext cx="694944" cy="694944"/>
          </a:xfrm>
          <a:prstGeom prst="ellipse">
            <a:avLst/>
          </a:prstGeom>
          <a:solidFill>
            <a:srgbClr val="059E5A"/>
          </a:solidFill>
          <a:ln w="12700">
            <a:solidFill>
              <a:srgbClr val="059E5A"/>
            </a:solidFill>
            <a:prstDash val="solid"/>
          </a:ln>
        </p:spPr>
      </p:sp>
      <p:sp>
        <p:nvSpPr>
          <p:cNvPr id="24" name="Text 22"/>
          <p:cNvSpPr/>
          <p:nvPr/>
        </p:nvSpPr>
        <p:spPr>
          <a:xfrm>
            <a:off x="6126480"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5" name="Text 23"/>
          <p:cNvSpPr/>
          <p:nvPr/>
        </p:nvSpPr>
        <p:spPr>
          <a:xfrm>
            <a:off x="5879592"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Exchange &amp;</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Completion</a:t>
            </a:r>
            <a:endParaRPr lang="en-US" sz="1000" dirty="0"/>
          </a:p>
        </p:txBody>
      </p:sp>
      <p:sp>
        <p:nvSpPr>
          <p:cNvPr id="26" name="Shape 24"/>
          <p:cNvSpPr/>
          <p:nvPr/>
        </p:nvSpPr>
        <p:spPr>
          <a:xfrm>
            <a:off x="7516368" y="1371600"/>
            <a:ext cx="694944" cy="694944"/>
          </a:xfrm>
          <a:prstGeom prst="ellipse">
            <a:avLst/>
          </a:prstGeom>
          <a:solidFill>
            <a:srgbClr val="F59E0B"/>
          </a:solidFill>
          <a:ln w="12700">
            <a:solidFill>
              <a:srgbClr val="F59E0B"/>
            </a:solidFill>
            <a:prstDash val="solid"/>
          </a:ln>
        </p:spPr>
      </p:sp>
      <p:sp>
        <p:nvSpPr>
          <p:cNvPr id="27" name="Text 25"/>
          <p:cNvSpPr/>
          <p:nvPr/>
        </p:nvSpPr>
        <p:spPr>
          <a:xfrm>
            <a:off x="7516368" y="1371600"/>
            <a:ext cx="694944"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p:nvPr/>
        </p:nvSpPr>
        <p:spPr>
          <a:xfrm>
            <a:off x="7269480" y="2157984"/>
            <a:ext cx="1188720" cy="548640"/>
          </a:xfrm>
          <a:prstGeom prst="rect">
            <a:avLst/>
          </a:prstGeom>
          <a:noFill/>
          <a:ln/>
        </p:spPr>
        <p:txBody>
          <a:bodyPr wrap="square" lIns="0" tIns="0" rIns="0" bIns="0"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Homeowner</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Mode</a:t>
            </a:r>
            <a:endParaRPr lang="en-US" sz="1000" dirty="0"/>
          </a:p>
        </p:txBody>
      </p:sp>
      <p:sp>
        <p:nvSpPr>
          <p:cNvPr id="29" name="Text 27"/>
          <p:cNvSpPr/>
          <p:nvPr/>
        </p:nvSpPr>
        <p:spPr>
          <a:xfrm>
            <a:off x="365760" y="2788920"/>
            <a:ext cx="8412480" cy="320040"/>
          </a:xfrm>
          <a:prstGeom prst="rect">
            <a:avLst/>
          </a:prstGeom>
          <a:noFill/>
          <a:ln/>
        </p:spPr>
        <p:txBody>
          <a:bodyPr wrap="square" lIns="0" tIns="0" rIns="0" bIns="0" rtlCol="0" anchor="ctr"/>
          <a:lstStyle/>
          <a:p>
            <a:pPr indent="0" marL="0">
              <a:buNone/>
            </a:pPr>
            <a:r>
              <a:rPr lang="en-US" sz="1300" b="1" dirty="0">
                <a:solidFill>
                  <a:srgbClr val="0B1F4B"/>
                </a:solidFill>
                <a:latin typeface="Arial" pitchFamily="34" charset="0"/>
                <a:ea typeface="Arial" pitchFamily="34" charset="-122"/>
                <a:cs typeface="Arial" pitchFamily="34" charset="-120"/>
              </a:rPr>
              <a:t>AI capabilities at every stage</a:t>
            </a:r>
            <a:endParaRPr lang="en-US" sz="1300" dirty="0"/>
          </a:p>
        </p:txBody>
      </p:sp>
      <p:sp>
        <p:nvSpPr>
          <p:cNvPr id="30" name="Shape 28"/>
          <p:cNvSpPr/>
          <p:nvPr/>
        </p:nvSpPr>
        <p:spPr>
          <a:xfrm>
            <a:off x="32004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1" name="Text 29"/>
          <p:cNvSpPr/>
          <p:nvPr/>
        </p:nvSpPr>
        <p:spPr>
          <a:xfrm>
            <a:off x="32004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32004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True cost</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calculator</a:t>
            </a:r>
            <a:endParaRPr lang="en-US" sz="950" dirty="0"/>
          </a:p>
        </p:txBody>
      </p:sp>
      <p:sp>
        <p:nvSpPr>
          <p:cNvPr id="33" name="Shape 31"/>
          <p:cNvSpPr/>
          <p:nvPr/>
        </p:nvSpPr>
        <p:spPr>
          <a:xfrm>
            <a:off x="141732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4" name="Text 32"/>
          <p:cNvSpPr/>
          <p:nvPr/>
        </p:nvSpPr>
        <p:spPr>
          <a:xfrm>
            <a:off x="141732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5" name="Text 33"/>
          <p:cNvSpPr/>
          <p:nvPr/>
        </p:nvSpPr>
        <p:spPr>
          <a:xfrm>
            <a:off x="141732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Listing</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decoder</a:t>
            </a:r>
            <a:endParaRPr lang="en-US" sz="950" dirty="0"/>
          </a:p>
        </p:txBody>
      </p:sp>
      <p:sp>
        <p:nvSpPr>
          <p:cNvPr id="36" name="Shape 34"/>
          <p:cNvSpPr/>
          <p:nvPr/>
        </p:nvSpPr>
        <p:spPr>
          <a:xfrm>
            <a:off x="251460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7" name="Text 35"/>
          <p:cNvSpPr/>
          <p:nvPr/>
        </p:nvSpPr>
        <p:spPr>
          <a:xfrm>
            <a:off x="251460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251460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Leasehold</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risk scanner</a:t>
            </a:r>
            <a:endParaRPr lang="en-US" sz="950" dirty="0"/>
          </a:p>
        </p:txBody>
      </p:sp>
      <p:sp>
        <p:nvSpPr>
          <p:cNvPr id="39" name="Shape 37"/>
          <p:cNvSpPr/>
          <p:nvPr/>
        </p:nvSpPr>
        <p:spPr>
          <a:xfrm>
            <a:off x="361188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0" name="Text 38"/>
          <p:cNvSpPr/>
          <p:nvPr/>
        </p:nvSpPr>
        <p:spPr>
          <a:xfrm>
            <a:off x="361188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1" name="Text 39"/>
          <p:cNvSpPr/>
          <p:nvPr/>
        </p:nvSpPr>
        <p:spPr>
          <a:xfrm>
            <a:off x="361188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Negotiation</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coach</a:t>
            </a:r>
            <a:endParaRPr lang="en-US" sz="950" dirty="0"/>
          </a:p>
        </p:txBody>
      </p:sp>
      <p:sp>
        <p:nvSpPr>
          <p:cNvPr id="42" name="Shape 40"/>
          <p:cNvSpPr/>
          <p:nvPr/>
        </p:nvSpPr>
        <p:spPr>
          <a:xfrm>
            <a:off x="470916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3" name="Text 41"/>
          <p:cNvSpPr/>
          <p:nvPr/>
        </p:nvSpPr>
        <p:spPr>
          <a:xfrm>
            <a:off x="470916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4" name="Text 42"/>
          <p:cNvSpPr/>
          <p:nvPr/>
        </p:nvSpPr>
        <p:spPr>
          <a:xfrm>
            <a:off x="470916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Legal doc</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explainer</a:t>
            </a:r>
            <a:endParaRPr lang="en-US" sz="950" dirty="0"/>
          </a:p>
        </p:txBody>
      </p:sp>
      <p:sp>
        <p:nvSpPr>
          <p:cNvPr id="45" name="Shape 43"/>
          <p:cNvSpPr/>
          <p:nvPr/>
        </p:nvSpPr>
        <p:spPr>
          <a:xfrm>
            <a:off x="580644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6" name="Text 44"/>
          <p:cNvSpPr/>
          <p:nvPr/>
        </p:nvSpPr>
        <p:spPr>
          <a:xfrm>
            <a:off x="580644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7" name="Text 45"/>
          <p:cNvSpPr/>
          <p:nvPr/>
        </p:nvSpPr>
        <p:spPr>
          <a:xfrm>
            <a:off x="580644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Survey</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interpreter</a:t>
            </a:r>
            <a:endParaRPr lang="en-US" sz="950" dirty="0"/>
          </a:p>
        </p:txBody>
      </p:sp>
      <p:sp>
        <p:nvSpPr>
          <p:cNvPr id="48" name="Shape 46"/>
          <p:cNvSpPr/>
          <p:nvPr/>
        </p:nvSpPr>
        <p:spPr>
          <a:xfrm>
            <a:off x="690372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9" name="Text 47"/>
          <p:cNvSpPr/>
          <p:nvPr/>
        </p:nvSpPr>
        <p:spPr>
          <a:xfrm>
            <a:off x="690372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0" name="Text 48"/>
          <p:cNvSpPr/>
          <p:nvPr/>
        </p:nvSpPr>
        <p:spPr>
          <a:xfrm>
            <a:off x="690372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Completion</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checklist</a:t>
            </a:r>
            <a:endParaRPr lang="en-US" sz="950" dirty="0"/>
          </a:p>
        </p:txBody>
      </p:sp>
      <p:sp>
        <p:nvSpPr>
          <p:cNvPr id="51" name="Shape 49"/>
          <p:cNvSpPr/>
          <p:nvPr/>
        </p:nvSpPr>
        <p:spPr>
          <a:xfrm>
            <a:off x="8001000" y="3154680"/>
            <a:ext cx="1005840" cy="1691640"/>
          </a:xfrm>
          <a:prstGeom prst="rect">
            <a:avLst>
              <a:gd name="adj" fmla="val 7273"/>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52" name="Text 50"/>
          <p:cNvSpPr/>
          <p:nvPr/>
        </p:nvSpPr>
        <p:spPr>
          <a:xfrm>
            <a:off x="8001000" y="3246120"/>
            <a:ext cx="10058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3" name="Text 51"/>
          <p:cNvSpPr/>
          <p:nvPr/>
        </p:nvSpPr>
        <p:spPr>
          <a:xfrm>
            <a:off x="8001000" y="3730752"/>
            <a:ext cx="1005840" cy="594360"/>
          </a:xfrm>
          <a:prstGeom prst="rect">
            <a:avLst/>
          </a:prstGeom>
          <a:noFill/>
          <a:ln/>
        </p:spPr>
        <p:txBody>
          <a:bodyPr wrap="square" lIns="0" tIns="0" rIns="0" bIns="0"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Remortgage</a:t>
            </a:r>
            <a:endParaRPr lang="en-US" sz="950" dirty="0"/>
          </a:p>
          <a:p>
            <a:pPr algn="ctr" indent="0" marL="0">
              <a:buNone/>
            </a:pPr>
            <a:r>
              <a:rPr lang="en-US" sz="950" dirty="0">
                <a:solidFill>
                  <a:srgbClr val="1E293B"/>
                </a:solidFill>
                <a:latin typeface="Arial" pitchFamily="34" charset="0"/>
                <a:ea typeface="Arial" pitchFamily="34" charset="-122"/>
                <a:cs typeface="Arial" pitchFamily="34" charset="-120"/>
              </a:rPr>
              <a:t>alerts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877824"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877824"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MARKET</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A large, underserved, and growing market</a:t>
            </a:r>
            <a:endParaRPr lang="en-US" sz="3000" dirty="0"/>
          </a:p>
        </p:txBody>
      </p:sp>
      <p:sp>
        <p:nvSpPr>
          <p:cNvPr id="6" name="Shape 4"/>
          <p:cNvSpPr/>
          <p:nvPr/>
        </p:nvSpPr>
        <p:spPr>
          <a:xfrm>
            <a:off x="274320" y="1234440"/>
            <a:ext cx="4023360" cy="3200400"/>
          </a:xfrm>
          <a:prstGeom prst="ellipse">
            <a:avLst/>
          </a:prstGeom>
          <a:solidFill>
            <a:srgbClr val="D6E8F7"/>
          </a:solidFill>
          <a:ln w="12700">
            <a:solidFill>
              <a:srgbClr val="D6E8F7"/>
            </a:solidFill>
            <a:prstDash val="solid"/>
          </a:ln>
        </p:spPr>
      </p:sp>
      <p:sp>
        <p:nvSpPr>
          <p:cNvPr id="7" name="Shape 5"/>
          <p:cNvSpPr/>
          <p:nvPr/>
        </p:nvSpPr>
        <p:spPr>
          <a:xfrm>
            <a:off x="777240" y="1691640"/>
            <a:ext cx="3017520" cy="2286000"/>
          </a:xfrm>
          <a:prstGeom prst="ellipse">
            <a:avLst/>
          </a:prstGeom>
          <a:solidFill>
            <a:srgbClr val="C3DCF5"/>
          </a:solidFill>
          <a:ln w="12700">
            <a:solidFill>
              <a:srgbClr val="C3DCF5"/>
            </a:solidFill>
            <a:prstDash val="solid"/>
          </a:ln>
        </p:spPr>
      </p:sp>
      <p:sp>
        <p:nvSpPr>
          <p:cNvPr id="8" name="Shape 6"/>
          <p:cNvSpPr/>
          <p:nvPr/>
        </p:nvSpPr>
        <p:spPr>
          <a:xfrm>
            <a:off x="1325880" y="2148840"/>
            <a:ext cx="1920240" cy="1371600"/>
          </a:xfrm>
          <a:prstGeom prst="ellipse">
            <a:avLst/>
          </a:prstGeom>
          <a:solidFill>
            <a:srgbClr val="3B82C4"/>
          </a:solidFill>
          <a:ln w="12700">
            <a:solidFill>
              <a:srgbClr val="3B82C4"/>
            </a:solidFill>
            <a:prstDash val="solid"/>
          </a:ln>
        </p:spPr>
      </p:sp>
      <p:sp>
        <p:nvSpPr>
          <p:cNvPr id="9" name="Text 7"/>
          <p:cNvSpPr/>
          <p:nvPr/>
        </p:nvSpPr>
        <p:spPr>
          <a:xfrm>
            <a:off x="320040" y="1371600"/>
            <a:ext cx="914400" cy="320040"/>
          </a:xfrm>
          <a:prstGeom prst="rect">
            <a:avLst/>
          </a:prstGeom>
          <a:noFill/>
          <a:ln/>
        </p:spPr>
        <p:txBody>
          <a:bodyPr wrap="square" lIns="0" tIns="0" rIns="0" bIns="0" rtlCol="0" anchor="ctr"/>
          <a:lstStyle/>
          <a:p>
            <a:pPr indent="0" marL="0">
              <a:buNone/>
            </a:pPr>
            <a:r>
              <a:rPr lang="en-US" sz="1000" b="1" dirty="0">
                <a:solidFill>
                  <a:srgbClr val="1A56A0"/>
                </a:solidFill>
                <a:latin typeface="Arial" pitchFamily="34" charset="0"/>
                <a:ea typeface="Arial" pitchFamily="34" charset="-122"/>
                <a:cs typeface="Arial" pitchFamily="34" charset="-120"/>
              </a:rPr>
              <a:t>TAM</a:t>
            </a:r>
            <a:endParaRPr lang="en-US" sz="1000" dirty="0"/>
          </a:p>
        </p:txBody>
      </p:sp>
      <p:sp>
        <p:nvSpPr>
          <p:cNvPr id="10" name="Text 8"/>
          <p:cNvSpPr/>
          <p:nvPr/>
        </p:nvSpPr>
        <p:spPr>
          <a:xfrm>
            <a:off x="822960" y="1874520"/>
            <a:ext cx="914400" cy="320040"/>
          </a:xfrm>
          <a:prstGeom prst="rect">
            <a:avLst/>
          </a:prstGeom>
          <a:noFill/>
          <a:ln/>
        </p:spPr>
        <p:txBody>
          <a:bodyPr wrap="square" lIns="0" tIns="0" rIns="0" bIns="0" rtlCol="0" anchor="ctr"/>
          <a:lstStyle/>
          <a:p>
            <a:pPr indent="0" marL="0">
              <a:buNone/>
            </a:pPr>
            <a:r>
              <a:rPr lang="en-US" sz="1000" b="1" dirty="0">
                <a:solidFill>
                  <a:srgbClr val="1A56A0"/>
                </a:solidFill>
                <a:latin typeface="Arial" pitchFamily="34" charset="0"/>
                <a:ea typeface="Arial" pitchFamily="34" charset="-122"/>
                <a:cs typeface="Arial" pitchFamily="34" charset="-120"/>
              </a:rPr>
              <a:t>SAM</a:t>
            </a:r>
            <a:endParaRPr lang="en-US" sz="1000" dirty="0"/>
          </a:p>
        </p:txBody>
      </p:sp>
      <p:sp>
        <p:nvSpPr>
          <p:cNvPr id="11" name="Text 9"/>
          <p:cNvSpPr/>
          <p:nvPr/>
        </p:nvSpPr>
        <p:spPr>
          <a:xfrm>
            <a:off x="1554480" y="2651760"/>
            <a:ext cx="82296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SOM</a:t>
            </a:r>
            <a:endParaRPr lang="en-US" sz="1100" dirty="0"/>
          </a:p>
        </p:txBody>
      </p:sp>
      <p:sp>
        <p:nvSpPr>
          <p:cNvPr id="12" name="Shape 10"/>
          <p:cNvSpPr/>
          <p:nvPr/>
        </p:nvSpPr>
        <p:spPr>
          <a:xfrm>
            <a:off x="4572000" y="1234440"/>
            <a:ext cx="4297680" cy="1097280"/>
          </a:xfrm>
          <a:prstGeom prst="rect">
            <a:avLst>
              <a:gd name="adj" fmla="val 6667"/>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4663440" y="1371600"/>
            <a:ext cx="548640" cy="292608"/>
          </a:xfrm>
          <a:prstGeom prst="roundRect">
            <a:avLst>
              <a:gd name="adj" fmla="val 12500"/>
            </a:avLst>
          </a:prstGeom>
          <a:solidFill>
            <a:srgbClr val="D6E8F7"/>
          </a:solidFill>
          <a:ln w="12700">
            <a:solidFill>
              <a:srgbClr val="D6E8F7"/>
            </a:solidFill>
            <a:prstDash val="solid"/>
          </a:ln>
        </p:spPr>
      </p:sp>
      <p:sp>
        <p:nvSpPr>
          <p:cNvPr id="14" name="Text 12"/>
          <p:cNvSpPr/>
          <p:nvPr/>
        </p:nvSpPr>
        <p:spPr>
          <a:xfrm>
            <a:off x="4663440" y="1371600"/>
            <a:ext cx="54864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TAM</a:t>
            </a:r>
            <a:endParaRPr lang="en-US" sz="900" dirty="0"/>
          </a:p>
        </p:txBody>
      </p:sp>
      <p:sp>
        <p:nvSpPr>
          <p:cNvPr id="15" name="Text 13"/>
          <p:cNvSpPr/>
          <p:nvPr/>
        </p:nvSpPr>
        <p:spPr>
          <a:xfrm>
            <a:off x="5303520" y="1325880"/>
            <a:ext cx="3383280" cy="411480"/>
          </a:xfrm>
          <a:prstGeom prst="rect">
            <a:avLst/>
          </a:prstGeom>
          <a:noFill/>
          <a:ln/>
        </p:spPr>
        <p:txBody>
          <a:bodyPr wrap="square" lIns="0" tIns="0" rIns="0" bIns="0" rtlCol="0" anchor="ctr"/>
          <a:lstStyle/>
          <a:p>
            <a:pPr indent="0" marL="0">
              <a:buNone/>
            </a:pPr>
            <a:r>
              <a:rPr lang="en-US" sz="2200" b="1" dirty="0">
                <a:solidFill>
                  <a:srgbClr val="0B1F4B"/>
                </a:solidFill>
                <a:latin typeface="Cambria" pitchFamily="34" charset="0"/>
                <a:ea typeface="Cambria" pitchFamily="34" charset="-122"/>
                <a:cs typeface="Cambria" pitchFamily="34" charset="-120"/>
              </a:rPr>
              <a:t>£8–12B</a:t>
            </a:r>
            <a:endParaRPr lang="en-US" sz="2200" dirty="0"/>
          </a:p>
        </p:txBody>
      </p:sp>
      <p:sp>
        <p:nvSpPr>
          <p:cNvPr id="16" name="Text 14"/>
          <p:cNvSpPr/>
          <p:nvPr/>
        </p:nvSpPr>
        <p:spPr>
          <a:xfrm>
            <a:off x="4663440" y="1755648"/>
            <a:ext cx="4023360" cy="475488"/>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UK + English-speaking Commonwealth (AU, CA, NZ)</a:t>
            </a:r>
            <a:endParaRPr lang="en-US" sz="1000" dirty="0"/>
          </a:p>
          <a:p>
            <a:pPr indent="0" marL="0">
              <a:buNone/>
            </a:pPr>
            <a:r>
              <a:rPr lang="en-US" sz="1000" dirty="0">
                <a:solidFill>
                  <a:srgbClr val="64748B"/>
                </a:solidFill>
                <a:latin typeface="Arial" pitchFamily="34" charset="0"/>
                <a:ea typeface="Arial" pitchFamily="34" charset="-122"/>
                <a:cs typeface="Arial" pitchFamily="34" charset="-120"/>
              </a:rPr>
              <a:t>All home buyer advisory spend</a:t>
            </a:r>
            <a:endParaRPr lang="en-US" sz="1000" dirty="0"/>
          </a:p>
        </p:txBody>
      </p:sp>
      <p:sp>
        <p:nvSpPr>
          <p:cNvPr id="17" name="Shape 15"/>
          <p:cNvSpPr/>
          <p:nvPr/>
        </p:nvSpPr>
        <p:spPr>
          <a:xfrm>
            <a:off x="4572000" y="2468880"/>
            <a:ext cx="4297680" cy="1097280"/>
          </a:xfrm>
          <a:prstGeom prst="rect">
            <a:avLst>
              <a:gd name="adj" fmla="val 6667"/>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4663440" y="2606040"/>
            <a:ext cx="548640" cy="292608"/>
          </a:xfrm>
          <a:prstGeom prst="roundRect">
            <a:avLst>
              <a:gd name="adj" fmla="val 12500"/>
            </a:avLst>
          </a:prstGeom>
          <a:solidFill>
            <a:srgbClr val="D6E8F7"/>
          </a:solidFill>
          <a:ln w="12700">
            <a:solidFill>
              <a:srgbClr val="D6E8F7"/>
            </a:solidFill>
            <a:prstDash val="solid"/>
          </a:ln>
        </p:spPr>
      </p:sp>
      <p:sp>
        <p:nvSpPr>
          <p:cNvPr id="19" name="Text 17"/>
          <p:cNvSpPr/>
          <p:nvPr/>
        </p:nvSpPr>
        <p:spPr>
          <a:xfrm>
            <a:off x="4663440" y="2606040"/>
            <a:ext cx="54864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SAM</a:t>
            </a:r>
            <a:endParaRPr lang="en-US" sz="900" dirty="0"/>
          </a:p>
        </p:txBody>
      </p:sp>
      <p:sp>
        <p:nvSpPr>
          <p:cNvPr id="20" name="Text 18"/>
          <p:cNvSpPr/>
          <p:nvPr/>
        </p:nvSpPr>
        <p:spPr>
          <a:xfrm>
            <a:off x="5303520" y="2560320"/>
            <a:ext cx="3383280" cy="411480"/>
          </a:xfrm>
          <a:prstGeom prst="rect">
            <a:avLst/>
          </a:prstGeom>
          <a:noFill/>
          <a:ln/>
        </p:spPr>
        <p:txBody>
          <a:bodyPr wrap="square" lIns="0" tIns="0" rIns="0" bIns="0" rtlCol="0" anchor="ctr"/>
          <a:lstStyle/>
          <a:p>
            <a:pPr indent="0" marL="0">
              <a:buNone/>
            </a:pPr>
            <a:r>
              <a:rPr lang="en-US" sz="2200" b="1" dirty="0">
                <a:solidFill>
                  <a:srgbClr val="0B1F4B"/>
                </a:solidFill>
                <a:latin typeface="Cambria" pitchFamily="34" charset="0"/>
                <a:ea typeface="Cambria" pitchFamily="34" charset="-122"/>
                <a:cs typeface="Cambria" pitchFamily="34" charset="-120"/>
              </a:rPr>
              <a:t>£35–40M</a:t>
            </a:r>
            <a:endParaRPr lang="en-US" sz="2200" dirty="0"/>
          </a:p>
        </p:txBody>
      </p:sp>
      <p:sp>
        <p:nvSpPr>
          <p:cNvPr id="21" name="Text 19"/>
          <p:cNvSpPr/>
          <p:nvPr/>
        </p:nvSpPr>
        <p:spPr>
          <a:xfrm>
            <a:off x="4663440" y="2990088"/>
            <a:ext cx="4023360" cy="475488"/>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UK first-time buyers, digitally active, urban</a:t>
            </a:r>
            <a:endParaRPr lang="en-US" sz="1000" dirty="0"/>
          </a:p>
          <a:p>
            <a:pPr indent="0" marL="0">
              <a:buNone/>
            </a:pPr>
            <a:r>
              <a:rPr lang="en-US" sz="1000" dirty="0">
                <a:solidFill>
                  <a:srgbClr val="64748B"/>
                </a:solidFill>
                <a:latin typeface="Arial" pitchFamily="34" charset="0"/>
                <a:ea typeface="Arial" pitchFamily="34" charset="-122"/>
                <a:cs typeface="Arial" pitchFamily="34" charset="-120"/>
              </a:rPr>
              <a:t>~300K buyers/year × £120 ARPU</a:t>
            </a:r>
            <a:endParaRPr lang="en-US" sz="1000" dirty="0"/>
          </a:p>
        </p:txBody>
      </p:sp>
      <p:sp>
        <p:nvSpPr>
          <p:cNvPr id="22" name="Shape 20"/>
          <p:cNvSpPr/>
          <p:nvPr/>
        </p:nvSpPr>
        <p:spPr>
          <a:xfrm>
            <a:off x="4572000" y="3703320"/>
            <a:ext cx="4297680" cy="1097280"/>
          </a:xfrm>
          <a:prstGeom prst="rect">
            <a:avLst>
              <a:gd name="adj" fmla="val 6667"/>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3" name="Shape 21"/>
          <p:cNvSpPr/>
          <p:nvPr/>
        </p:nvSpPr>
        <p:spPr>
          <a:xfrm>
            <a:off x="4663440" y="3840480"/>
            <a:ext cx="548640" cy="292608"/>
          </a:xfrm>
          <a:prstGeom prst="roundRect">
            <a:avLst>
              <a:gd name="adj" fmla="val 12500"/>
            </a:avLst>
          </a:prstGeom>
          <a:solidFill>
            <a:srgbClr val="3B82C4"/>
          </a:solidFill>
          <a:ln w="12700">
            <a:solidFill>
              <a:srgbClr val="3B82C4"/>
            </a:solidFill>
            <a:prstDash val="solid"/>
          </a:ln>
        </p:spPr>
      </p:sp>
      <p:sp>
        <p:nvSpPr>
          <p:cNvPr id="24" name="Text 22"/>
          <p:cNvSpPr/>
          <p:nvPr/>
        </p:nvSpPr>
        <p:spPr>
          <a:xfrm>
            <a:off x="4663440" y="3840480"/>
            <a:ext cx="5486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SOM</a:t>
            </a:r>
            <a:endParaRPr lang="en-US" sz="900" dirty="0"/>
          </a:p>
        </p:txBody>
      </p:sp>
      <p:sp>
        <p:nvSpPr>
          <p:cNvPr id="25" name="Text 23"/>
          <p:cNvSpPr/>
          <p:nvPr/>
        </p:nvSpPr>
        <p:spPr>
          <a:xfrm>
            <a:off x="5303520" y="3794760"/>
            <a:ext cx="3383280" cy="411480"/>
          </a:xfrm>
          <a:prstGeom prst="rect">
            <a:avLst/>
          </a:prstGeom>
          <a:noFill/>
          <a:ln/>
        </p:spPr>
        <p:txBody>
          <a:bodyPr wrap="square" lIns="0" tIns="0" rIns="0" bIns="0" rtlCol="0" anchor="ctr"/>
          <a:lstStyle/>
          <a:p>
            <a:pPr indent="0" marL="0">
              <a:buNone/>
            </a:pPr>
            <a:r>
              <a:rPr lang="en-US" sz="2200" b="1" dirty="0">
                <a:solidFill>
                  <a:srgbClr val="0B1F4B"/>
                </a:solidFill>
                <a:latin typeface="Cambria" pitchFamily="34" charset="0"/>
                <a:ea typeface="Cambria" pitchFamily="34" charset="-122"/>
                <a:cs typeface="Cambria" pitchFamily="34" charset="-120"/>
              </a:rPr>
              <a:t>£6–8M ARR</a:t>
            </a:r>
            <a:endParaRPr lang="en-US" sz="2200" dirty="0"/>
          </a:p>
        </p:txBody>
      </p:sp>
      <p:sp>
        <p:nvSpPr>
          <p:cNvPr id="26" name="Text 24"/>
          <p:cNvSpPr/>
          <p:nvPr/>
        </p:nvSpPr>
        <p:spPr>
          <a:xfrm>
            <a:off x="4663440" y="4224528"/>
            <a:ext cx="4023360" cy="475488"/>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Year 3 target: 15% market share</a:t>
            </a:r>
            <a:endParaRPr lang="en-US" sz="1000" dirty="0"/>
          </a:p>
          <a:p>
            <a:pPr indent="0" marL="0">
              <a:buNone/>
            </a:pPr>
            <a:r>
              <a:rPr lang="en-US" sz="1000" dirty="0">
                <a:solidFill>
                  <a:srgbClr val="64748B"/>
                </a:solidFill>
                <a:latin typeface="Arial" pitchFamily="34" charset="0"/>
                <a:ea typeface="Arial" pitchFamily="34" charset="-122"/>
                <a:cs typeface="Arial" pitchFamily="34" charset="-120"/>
              </a:rPr>
              <a:t>+ 200 broker licences at £100/month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682496"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682496"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BUSINESS MODEL</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Two revenue streams. One aligned with the user.</a:t>
            </a:r>
            <a:endParaRPr lang="en-US" sz="3000" dirty="0"/>
          </a:p>
        </p:txBody>
      </p:sp>
      <p:sp>
        <p:nvSpPr>
          <p:cNvPr id="6" name="Shape 4"/>
          <p:cNvSpPr/>
          <p:nvPr/>
        </p:nvSpPr>
        <p:spPr>
          <a:xfrm>
            <a:off x="365760" y="1280160"/>
            <a:ext cx="3977640" cy="3520440"/>
          </a:xfrm>
          <a:prstGeom prst="rect">
            <a:avLst>
              <a:gd name="adj" fmla="val 207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502920" y="1444752"/>
            <a:ext cx="1371600" cy="274320"/>
          </a:xfrm>
          <a:prstGeom prst="roundRect">
            <a:avLst>
              <a:gd name="adj" fmla="val 16667"/>
            </a:avLst>
          </a:prstGeom>
          <a:solidFill>
            <a:srgbClr val="1A56A0"/>
          </a:solidFill>
          <a:ln w="12700">
            <a:solidFill>
              <a:srgbClr val="1A56A0"/>
            </a:solidFill>
            <a:prstDash val="solid"/>
          </a:ln>
        </p:spPr>
      </p:sp>
      <p:sp>
        <p:nvSpPr>
          <p:cNvPr id="8" name="Text 6"/>
          <p:cNvSpPr/>
          <p:nvPr/>
        </p:nvSpPr>
        <p:spPr>
          <a:xfrm>
            <a:off x="502920" y="1444752"/>
            <a:ext cx="1371600" cy="274320"/>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PRIMARY</a:t>
            </a:r>
            <a:endParaRPr lang="en-US" sz="800" dirty="0"/>
          </a:p>
        </p:txBody>
      </p:sp>
      <p:sp>
        <p:nvSpPr>
          <p:cNvPr id="9" name="Text 7"/>
          <p:cNvSpPr/>
          <p:nvPr/>
        </p:nvSpPr>
        <p:spPr>
          <a:xfrm>
            <a:off x="502920" y="1810512"/>
            <a:ext cx="3703320" cy="41148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B2B2C — Broker Licences</a:t>
            </a:r>
            <a:endParaRPr lang="en-US" sz="1600" dirty="0"/>
          </a:p>
        </p:txBody>
      </p:sp>
      <p:sp>
        <p:nvSpPr>
          <p:cNvPr id="10" name="Text 8"/>
          <p:cNvSpPr/>
          <p:nvPr/>
        </p:nvSpPr>
        <p:spPr>
          <a:xfrm>
            <a:off x="502920" y="2286000"/>
            <a:ext cx="3749040" cy="2331720"/>
          </a:xfrm>
          <a:prstGeom prst="rect">
            <a:avLst/>
          </a:prstGeom>
          <a:noFill/>
          <a:ln/>
        </p:spPr>
        <p:txBody>
          <a:bodyPr wrap="square" lIns="0" tIns="0" rIns="0" bIns="0" rtlCol="0" anchor="ctr"/>
          <a:lstStyle/>
          <a:p>
            <a:pPr indent="0" marL="0">
              <a:buNone/>
            </a:pPr>
            <a:r>
              <a:rPr lang="en-US" sz="1100" b="1" dirty="0">
                <a:solidFill>
                  <a:srgbClr val="64748B"/>
                </a:solidFill>
                <a:latin typeface="Arial" pitchFamily="34" charset="0"/>
                <a:ea typeface="Arial" pitchFamily="34" charset="-122"/>
                <a:cs typeface="Arial" pitchFamily="34" charset="-120"/>
              </a:rPr>
              <a:t>£50–150/month per broker firm
</a:t>
            </a:r>
            <a:pPr indent="0" marL="0">
              <a:buNone/>
            </a:pPr>
            <a:r>
              <a:rPr lang="en-US" sz="1100" dirty="0">
                <a:solidFill>
                  <a:srgbClr val="64748B"/>
                </a:solidFill>
                <a:latin typeface="Arial" pitchFamily="34" charset="0"/>
                <a:ea typeface="Arial" pitchFamily="34" charset="-122"/>
                <a:cs typeface="Arial" pitchFamily="34" charset="-120"/>
              </a:rPr>
              <a:t>Mortgage brokers give HomeReady to their clients as a value-add service. We reach buyers at the exact moment they engage a professional — with a trusted endorsement.
</a:t>
            </a:r>
            <a:pPr indent="0" marL="0">
              <a:buNone/>
            </a:pPr>
            <a:r>
              <a:rPr lang="en-US" sz="1100" dirty="0">
                <a:solidFill>
                  <a:srgbClr val="64748B"/>
                </a:solidFill>
                <a:latin typeface="Arial" pitchFamily="34" charset="0"/>
                <a:ea typeface="Arial" pitchFamily="34" charset="-122"/>
                <a:cs typeface="Arial" pitchFamily="34" charset="-120"/>
              </a:rPr>
              <a:t>5,000 FCA-regulated broker firms in the UK</a:t>
            </a:r>
            <a:endParaRPr lang="en-US" sz="1100" dirty="0"/>
          </a:p>
          <a:p>
            <a:pPr indent="0" marL="0">
              <a:buNone/>
            </a:pPr>
            <a:r>
              <a:rPr lang="en-US" sz="1100" dirty="0">
                <a:solidFill>
                  <a:srgbClr val="64748B"/>
                </a:solidFill>
                <a:latin typeface="Arial" pitchFamily="34" charset="0"/>
                <a:ea typeface="Arial" pitchFamily="34" charset="-122"/>
                <a:cs typeface="Arial" pitchFamily="34" charset="-120"/>
              </a:rPr>
              <a:t>200 firms × £100/mo = </a:t>
            </a:r>
            <a:endParaRPr lang="en-US" sz="1100" dirty="0"/>
          </a:p>
          <a:p>
            <a:pPr indent="0" marL="0">
              <a:buNone/>
            </a:pPr>
            <a:r>
              <a:rPr lang="en-US" sz="1100" b="1" dirty="0">
                <a:solidFill>
                  <a:srgbClr val="059669"/>
                </a:solidFill>
                <a:latin typeface="Arial" pitchFamily="34" charset="0"/>
                <a:ea typeface="Arial" pitchFamily="34" charset="-122"/>
                <a:cs typeface="Arial" pitchFamily="34" charset="-120"/>
              </a:rPr>
              <a:t>£240K ARR</a:t>
            </a:r>
            <a:pPr indent="0" marL="0">
              <a:buNone/>
            </a:pPr>
            <a:r>
              <a:rPr lang="en-US" sz="1100" dirty="0">
                <a:solidFill>
                  <a:srgbClr val="64748B"/>
                </a:solidFill>
                <a:latin typeface="Arial" pitchFamily="34" charset="0"/>
                <a:ea typeface="Arial" pitchFamily="34" charset="-122"/>
                <a:cs typeface="Arial" pitchFamily="34" charset="-120"/>
              </a:rPr>
              <a:t> from brokers alone</a:t>
            </a:r>
            <a:endParaRPr lang="en-US" sz="1100" dirty="0"/>
          </a:p>
        </p:txBody>
      </p:sp>
      <p:sp>
        <p:nvSpPr>
          <p:cNvPr id="11" name="Shape 9"/>
          <p:cNvSpPr/>
          <p:nvPr/>
        </p:nvSpPr>
        <p:spPr>
          <a:xfrm>
            <a:off x="4617720" y="1280160"/>
            <a:ext cx="4160520" cy="3520440"/>
          </a:xfrm>
          <a:prstGeom prst="rect">
            <a:avLst>
              <a:gd name="adj" fmla="val 207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754880" y="1444752"/>
            <a:ext cx="1371600" cy="274320"/>
          </a:xfrm>
          <a:prstGeom prst="roundRect">
            <a:avLst>
              <a:gd name="adj" fmla="val 16667"/>
            </a:avLst>
          </a:prstGeom>
          <a:solidFill>
            <a:srgbClr val="3B82C4"/>
          </a:solidFill>
          <a:ln w="12700">
            <a:solidFill>
              <a:srgbClr val="3B82C4"/>
            </a:solidFill>
            <a:prstDash val="solid"/>
          </a:ln>
        </p:spPr>
      </p:sp>
      <p:sp>
        <p:nvSpPr>
          <p:cNvPr id="13" name="Text 11"/>
          <p:cNvSpPr/>
          <p:nvPr/>
        </p:nvSpPr>
        <p:spPr>
          <a:xfrm>
            <a:off x="4754880" y="1444752"/>
            <a:ext cx="1371600" cy="274320"/>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SECONDARY</a:t>
            </a:r>
            <a:endParaRPr lang="en-US" sz="800" dirty="0"/>
          </a:p>
        </p:txBody>
      </p:sp>
      <p:sp>
        <p:nvSpPr>
          <p:cNvPr id="14" name="Text 12"/>
          <p:cNvSpPr/>
          <p:nvPr/>
        </p:nvSpPr>
        <p:spPr>
          <a:xfrm>
            <a:off x="4754880" y="1810512"/>
            <a:ext cx="3840480" cy="41148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Direct — Freemium Subscription</a:t>
            </a:r>
            <a:endParaRPr lang="en-US" sz="1600" dirty="0"/>
          </a:p>
        </p:txBody>
      </p:sp>
      <p:sp>
        <p:nvSpPr>
          <p:cNvPr id="15" name="Text 13"/>
          <p:cNvSpPr/>
          <p:nvPr/>
        </p:nvSpPr>
        <p:spPr>
          <a:xfrm>
            <a:off x="4754880" y="2286000"/>
            <a:ext cx="3886200" cy="2331720"/>
          </a:xfrm>
          <a:prstGeom prst="rect">
            <a:avLst/>
          </a:prstGeom>
          <a:noFill/>
          <a:ln/>
        </p:spPr>
        <p:txBody>
          <a:bodyPr wrap="square" lIns="0" tIns="0" rIns="0" bIns="0" rtlCol="0" anchor="ctr"/>
          <a:lstStyle/>
          <a:p>
            <a:pPr indent="0" marL="0">
              <a:buNone/>
            </a:pPr>
            <a:r>
              <a:rPr lang="en-US" sz="1100" b="1" dirty="0">
                <a:solidFill>
                  <a:srgbClr val="64748B"/>
                </a:solidFill>
                <a:latin typeface="Arial" pitchFamily="34" charset="0"/>
                <a:ea typeface="Arial" pitchFamily="34" charset="-122"/>
                <a:cs typeface="Arial" pitchFamily="34" charset="-120"/>
              </a:rPr>
              <a:t>Free tier:</a:t>
            </a:r>
            <a:pPr indent="0" marL="0">
              <a:buNone/>
            </a:pPr>
            <a:r>
              <a:rPr lang="en-US" sz="1100" dirty="0">
                <a:solidFill>
                  <a:srgbClr val="64748B"/>
                </a:solidFill>
                <a:latin typeface="Arial" pitchFamily="34" charset="0"/>
                <a:ea typeface="Arial" pitchFamily="34" charset="-122"/>
                <a:cs typeface="Arial" pitchFamily="34" charset="-120"/>
              </a:rPr>
              <a:t> Journey tracker, cost calculator, listing decoder
</a:t>
            </a:r>
            <a:pPr indent="0" marL="0">
              <a:buNone/>
            </a:pPr>
            <a:r>
              <a:rPr lang="en-US" sz="1100" b="1" dirty="0">
                <a:solidFill>
                  <a:srgbClr val="64748B"/>
                </a:solidFill>
                <a:latin typeface="Arial" pitchFamily="34" charset="0"/>
                <a:ea typeface="Arial" pitchFamily="34" charset="-122"/>
                <a:cs typeface="Arial" pitchFamily="34" charset="-120"/>
              </a:rPr>
              <a:t>Premium (£9–15/month):</a:t>
            </a:r>
            <a:pPr indent="0" marL="0">
              <a:buNone/>
            </a:pPr>
            <a:r>
              <a:rPr lang="en-US" sz="1100" dirty="0">
                <a:solidFill>
                  <a:srgbClr val="64748B"/>
                </a:solidFill>
                <a:latin typeface="Arial" pitchFamily="34" charset="0"/>
                <a:ea typeface="Arial" pitchFamily="34" charset="-122"/>
                <a:cs typeface="Arial" pitchFamily="34" charset="-120"/>
              </a:rPr>
              <a:t> Document analysis, survey interpreter, negotiation coach, homeowner suite
</a:t>
            </a:r>
            <a:pPr indent="0" marL="0">
              <a:buNone/>
            </a:pPr>
            <a:r>
              <a:rPr lang="en-US" sz="1100" dirty="0">
                <a:solidFill>
                  <a:srgbClr val="64748B"/>
                </a:solidFill>
                <a:latin typeface="Arial" pitchFamily="34" charset="0"/>
                <a:ea typeface="Arial" pitchFamily="34" charset="-122"/>
                <a:cs typeface="Arial" pitchFamily="34" charset="-120"/>
              </a:rPr>
              <a:t>Buyers already pay £1,500–3,000 on professionals.
£144/year for informed confidence is an easy sell.
</a:t>
            </a:r>
            <a:pPr indent="0" marL="0">
              <a:buNone/>
            </a:pPr>
            <a:r>
              <a:rPr lang="en-US" sz="1100" i="1" dirty="0">
                <a:solidFill>
                  <a:srgbClr val="64748B"/>
                </a:solidFill>
                <a:latin typeface="Arial" pitchFamily="34" charset="0"/>
                <a:ea typeface="Arial" pitchFamily="34" charset="-122"/>
                <a:cs typeface="Arial" pitchFamily="34" charset="-120"/>
              </a:rPr>
              <a:t>Target conversion: 8–12% free → paid</a:t>
            </a:r>
            <a:endParaRPr lang="en-US" sz="1100" dirty="0"/>
          </a:p>
          <a:p>
            <a:pPr indent="0" marL="0">
              <a:buNone/>
            </a:pPr>
            <a:r>
              <a:rPr lang="en-US" sz="1100" i="1" dirty="0">
                <a:solidFill>
                  <a:srgbClr val="64748B"/>
                </a:solidFill>
                <a:latin typeface="Arial" pitchFamily="34" charset="0"/>
                <a:ea typeface="Arial" pitchFamily="34" charset="-122"/>
                <a:cs typeface="Arial" pitchFamily="34" charset="-120"/>
              </a:rPr>
              <a:t>(vs 2–5% industry benchmark)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481328"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481328"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GO-TO-MARKET</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Community first. Brokers second. Scale third.</a:t>
            </a:r>
            <a:endParaRPr lang="en-US" sz="3000" dirty="0"/>
          </a:p>
        </p:txBody>
      </p:sp>
      <p:sp>
        <p:nvSpPr>
          <p:cNvPr id="6" name="Shape 4"/>
          <p:cNvSpPr/>
          <p:nvPr/>
        </p:nvSpPr>
        <p:spPr>
          <a:xfrm>
            <a:off x="365760" y="1280160"/>
            <a:ext cx="8412480" cy="841248"/>
          </a:xfrm>
          <a:prstGeom prst="rect">
            <a:avLst>
              <a:gd name="adj" fmla="val 8696"/>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502920" y="1417320"/>
            <a:ext cx="777240" cy="274320"/>
          </a:xfrm>
          <a:prstGeom prst="roundRect">
            <a:avLst>
              <a:gd name="adj" fmla="val 16667"/>
            </a:avLst>
          </a:prstGeom>
          <a:solidFill>
            <a:srgbClr val="1A56A0"/>
          </a:solidFill>
          <a:ln w="12700">
            <a:solidFill>
              <a:srgbClr val="1A56A0"/>
            </a:solidFill>
            <a:prstDash val="solid"/>
          </a:ln>
        </p:spPr>
      </p:sp>
      <p:sp>
        <p:nvSpPr>
          <p:cNvPr id="8" name="Text 6"/>
          <p:cNvSpPr/>
          <p:nvPr/>
        </p:nvSpPr>
        <p:spPr>
          <a:xfrm>
            <a:off x="502920" y="1417320"/>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1</a:t>
            </a:r>
            <a:endParaRPr lang="en-US" sz="900" dirty="0"/>
          </a:p>
        </p:txBody>
      </p:sp>
      <p:sp>
        <p:nvSpPr>
          <p:cNvPr id="9" name="Text 7"/>
          <p:cNvSpPr/>
          <p:nvPr/>
        </p:nvSpPr>
        <p:spPr>
          <a:xfrm>
            <a:off x="502920" y="1737360"/>
            <a:ext cx="7772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Months 1–3</a:t>
            </a:r>
            <a:endParaRPr lang="en-US" sz="800" dirty="0"/>
          </a:p>
        </p:txBody>
      </p:sp>
      <p:sp>
        <p:nvSpPr>
          <p:cNvPr id="10" name="Text 8"/>
          <p:cNvSpPr/>
          <p:nvPr/>
        </p:nvSpPr>
        <p:spPr>
          <a:xfrm>
            <a:off x="1417320" y="1371600"/>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100 True Fans</a:t>
            </a:r>
            <a:endParaRPr lang="en-US" sz="1300" dirty="0"/>
          </a:p>
        </p:txBody>
      </p:sp>
      <p:sp>
        <p:nvSpPr>
          <p:cNvPr id="11" name="Text 9"/>
          <p:cNvSpPr/>
          <p:nvPr/>
        </p:nvSpPr>
        <p:spPr>
          <a:xfrm>
            <a:off x="1417320" y="1682496"/>
            <a:ext cx="5212080" cy="365760"/>
          </a:xfrm>
          <a:prstGeom prst="rect">
            <a:avLst/>
          </a:prstGeom>
          <a:noFill/>
          <a:ln/>
        </p:spPr>
        <p:txBody>
          <a:bodyPr wrap="square" lIns="0" tIns="0" rIns="0" bIns="0" rtlCol="0" anchor="ctr"/>
          <a:lstStyle/>
          <a:p>
            <a:pPr indent="0" marL="0">
              <a:buNone/>
            </a:pPr>
            <a:r>
              <a:rPr lang="en-US" sz="950" dirty="0">
                <a:solidFill>
                  <a:srgbClr val="64748B"/>
                </a:solidFill>
                <a:latin typeface="Arial" pitchFamily="34" charset="0"/>
                <a:ea typeface="Arial" pitchFamily="34" charset="-122"/>
                <a:cs typeface="Arial" pitchFamily="34" charset="-120"/>
              </a:rPr>
              <a:t>Recruit 100 active first-time buyers from Reddit (r/HousingUK), MoneySavingExpert forums, and Facebook groups. Give free access for weekly feedback. Do things that don't scale.</a:t>
            </a:r>
            <a:endParaRPr lang="en-US" sz="950" dirty="0"/>
          </a:p>
        </p:txBody>
      </p:sp>
      <p:sp>
        <p:nvSpPr>
          <p:cNvPr id="12" name="Shape 10"/>
          <p:cNvSpPr/>
          <p:nvPr/>
        </p:nvSpPr>
        <p:spPr>
          <a:xfrm>
            <a:off x="6766560" y="1527048"/>
            <a:ext cx="1828800" cy="347472"/>
          </a:xfrm>
          <a:prstGeom prst="roundRect">
            <a:avLst>
              <a:gd name="adj" fmla="val 15789"/>
            </a:avLst>
          </a:prstGeom>
          <a:solidFill>
            <a:srgbClr val="D6E8F7"/>
          </a:solidFill>
          <a:ln w="12700">
            <a:solidFill>
              <a:srgbClr val="D6E8F7"/>
            </a:solidFill>
            <a:prstDash val="solid"/>
          </a:ln>
        </p:spPr>
      </p:sp>
      <p:sp>
        <p:nvSpPr>
          <p:cNvPr id="13" name="Text 11"/>
          <p:cNvSpPr/>
          <p:nvPr/>
        </p:nvSpPr>
        <p:spPr>
          <a:xfrm>
            <a:off x="6766560" y="1527048"/>
            <a:ext cx="1828800" cy="347472"/>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NPS &gt; 70 from beta users</a:t>
            </a:r>
            <a:endParaRPr lang="en-US" sz="900" dirty="0"/>
          </a:p>
        </p:txBody>
      </p:sp>
      <p:sp>
        <p:nvSpPr>
          <p:cNvPr id="14" name="Shape 12"/>
          <p:cNvSpPr/>
          <p:nvPr/>
        </p:nvSpPr>
        <p:spPr>
          <a:xfrm>
            <a:off x="365760" y="2212848"/>
            <a:ext cx="8412480" cy="841248"/>
          </a:xfrm>
          <a:prstGeom prst="rect">
            <a:avLst>
              <a:gd name="adj" fmla="val 8696"/>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502920" y="2350008"/>
            <a:ext cx="777240" cy="274320"/>
          </a:xfrm>
          <a:prstGeom prst="roundRect">
            <a:avLst>
              <a:gd name="adj" fmla="val 16667"/>
            </a:avLst>
          </a:prstGeom>
          <a:solidFill>
            <a:srgbClr val="3B82C4"/>
          </a:solidFill>
          <a:ln w="12700">
            <a:solidFill>
              <a:srgbClr val="3B82C4"/>
            </a:solidFill>
            <a:prstDash val="solid"/>
          </a:ln>
        </p:spPr>
      </p:sp>
      <p:sp>
        <p:nvSpPr>
          <p:cNvPr id="16" name="Text 14"/>
          <p:cNvSpPr/>
          <p:nvPr/>
        </p:nvSpPr>
        <p:spPr>
          <a:xfrm>
            <a:off x="502920" y="235000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2</a:t>
            </a:r>
            <a:endParaRPr lang="en-US" sz="900" dirty="0"/>
          </a:p>
        </p:txBody>
      </p:sp>
      <p:sp>
        <p:nvSpPr>
          <p:cNvPr id="17" name="Text 15"/>
          <p:cNvSpPr/>
          <p:nvPr/>
        </p:nvSpPr>
        <p:spPr>
          <a:xfrm>
            <a:off x="502920" y="2670048"/>
            <a:ext cx="7772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Months 2–6</a:t>
            </a:r>
            <a:endParaRPr lang="en-US" sz="800" dirty="0"/>
          </a:p>
        </p:txBody>
      </p:sp>
      <p:sp>
        <p:nvSpPr>
          <p:cNvPr id="18" name="Text 16"/>
          <p:cNvSpPr/>
          <p:nvPr/>
        </p:nvSpPr>
        <p:spPr>
          <a:xfrm>
            <a:off x="1417320" y="2304288"/>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Content as Distribution</a:t>
            </a:r>
            <a:endParaRPr lang="en-US" sz="1300" dirty="0"/>
          </a:p>
        </p:txBody>
      </p:sp>
      <p:sp>
        <p:nvSpPr>
          <p:cNvPr id="19" name="Text 17"/>
          <p:cNvSpPr/>
          <p:nvPr/>
        </p:nvSpPr>
        <p:spPr>
          <a:xfrm>
            <a:off x="1417320" y="2615184"/>
            <a:ext cx="5212080" cy="365760"/>
          </a:xfrm>
          <a:prstGeom prst="rect">
            <a:avLst/>
          </a:prstGeom>
          <a:noFill/>
          <a:ln/>
        </p:spPr>
        <p:txBody>
          <a:bodyPr wrap="square" lIns="0" tIns="0" rIns="0" bIns="0" rtlCol="0" anchor="ctr"/>
          <a:lstStyle/>
          <a:p>
            <a:pPr indent="0" marL="0">
              <a:buNone/>
            </a:pPr>
            <a:r>
              <a:rPr lang="en-US" sz="950" dirty="0">
                <a:solidFill>
                  <a:srgbClr val="64748B"/>
                </a:solidFill>
                <a:latin typeface="Arial" pitchFamily="34" charset="0"/>
                <a:ea typeface="Arial" pitchFamily="34" charset="-122"/>
                <a:cs typeface="Arial" pitchFamily="34" charset="-120"/>
              </a:rPr>
              <a:t>Own long-tail SEO for specific buyer questions: 'what does 72-year lease mean', 'how to read a homebuyer survey'. Target high-intent, low-competition keywords that map to HomeReady features.</a:t>
            </a:r>
            <a:endParaRPr lang="en-US" sz="950" dirty="0"/>
          </a:p>
        </p:txBody>
      </p:sp>
      <p:sp>
        <p:nvSpPr>
          <p:cNvPr id="20" name="Shape 18"/>
          <p:cNvSpPr/>
          <p:nvPr/>
        </p:nvSpPr>
        <p:spPr>
          <a:xfrm>
            <a:off x="6766560" y="2459736"/>
            <a:ext cx="1828800" cy="347472"/>
          </a:xfrm>
          <a:prstGeom prst="roundRect">
            <a:avLst>
              <a:gd name="adj" fmla="val 15789"/>
            </a:avLst>
          </a:prstGeom>
          <a:solidFill>
            <a:srgbClr val="D6E8F7"/>
          </a:solidFill>
          <a:ln w="12700">
            <a:solidFill>
              <a:srgbClr val="D6E8F7"/>
            </a:solidFill>
            <a:prstDash val="solid"/>
          </a:ln>
        </p:spPr>
      </p:sp>
      <p:sp>
        <p:nvSpPr>
          <p:cNvPr id="21" name="Text 19"/>
          <p:cNvSpPr/>
          <p:nvPr/>
        </p:nvSpPr>
        <p:spPr>
          <a:xfrm>
            <a:off x="6766560" y="2459736"/>
            <a:ext cx="1828800" cy="347472"/>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5K organic visitors/month</a:t>
            </a:r>
            <a:endParaRPr lang="en-US" sz="900" dirty="0"/>
          </a:p>
        </p:txBody>
      </p:sp>
      <p:sp>
        <p:nvSpPr>
          <p:cNvPr id="22" name="Shape 20"/>
          <p:cNvSpPr/>
          <p:nvPr/>
        </p:nvSpPr>
        <p:spPr>
          <a:xfrm>
            <a:off x="365760" y="3145536"/>
            <a:ext cx="8412480" cy="841248"/>
          </a:xfrm>
          <a:prstGeom prst="rect">
            <a:avLst>
              <a:gd name="adj" fmla="val 8696"/>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3" name="Shape 21"/>
          <p:cNvSpPr/>
          <p:nvPr/>
        </p:nvSpPr>
        <p:spPr>
          <a:xfrm>
            <a:off x="502920" y="3282696"/>
            <a:ext cx="777240" cy="274320"/>
          </a:xfrm>
          <a:prstGeom prst="roundRect">
            <a:avLst>
              <a:gd name="adj" fmla="val 16667"/>
            </a:avLst>
          </a:prstGeom>
          <a:solidFill>
            <a:srgbClr val="2196A6"/>
          </a:solidFill>
          <a:ln w="12700">
            <a:solidFill>
              <a:srgbClr val="2196A6"/>
            </a:solidFill>
            <a:prstDash val="solid"/>
          </a:ln>
        </p:spPr>
      </p:sp>
      <p:sp>
        <p:nvSpPr>
          <p:cNvPr id="24" name="Text 22"/>
          <p:cNvSpPr/>
          <p:nvPr/>
        </p:nvSpPr>
        <p:spPr>
          <a:xfrm>
            <a:off x="502920" y="3282696"/>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3</a:t>
            </a:r>
            <a:endParaRPr lang="en-US" sz="900" dirty="0"/>
          </a:p>
        </p:txBody>
      </p:sp>
      <p:sp>
        <p:nvSpPr>
          <p:cNvPr id="25" name="Text 23"/>
          <p:cNvSpPr/>
          <p:nvPr/>
        </p:nvSpPr>
        <p:spPr>
          <a:xfrm>
            <a:off x="502920" y="3602736"/>
            <a:ext cx="7772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Months 3–9</a:t>
            </a:r>
            <a:endParaRPr lang="en-US" sz="800" dirty="0"/>
          </a:p>
        </p:txBody>
      </p:sp>
      <p:sp>
        <p:nvSpPr>
          <p:cNvPr id="26" name="Text 24"/>
          <p:cNvSpPr/>
          <p:nvPr/>
        </p:nvSpPr>
        <p:spPr>
          <a:xfrm>
            <a:off x="1417320" y="3236976"/>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Broker Partnerships</a:t>
            </a:r>
            <a:endParaRPr lang="en-US" sz="1300" dirty="0"/>
          </a:p>
        </p:txBody>
      </p:sp>
      <p:sp>
        <p:nvSpPr>
          <p:cNvPr id="27" name="Text 25"/>
          <p:cNvSpPr/>
          <p:nvPr/>
        </p:nvSpPr>
        <p:spPr>
          <a:xfrm>
            <a:off x="1417320" y="3547872"/>
            <a:ext cx="5212080" cy="365760"/>
          </a:xfrm>
          <a:prstGeom prst="rect">
            <a:avLst/>
          </a:prstGeom>
          <a:noFill/>
          <a:ln/>
        </p:spPr>
        <p:txBody>
          <a:bodyPr wrap="square" lIns="0" tIns="0" rIns="0" bIns="0" rtlCol="0" anchor="ctr"/>
          <a:lstStyle/>
          <a:p>
            <a:pPr indent="0" marL="0">
              <a:buNone/>
            </a:pPr>
            <a:r>
              <a:rPr lang="en-US" sz="950" dirty="0">
                <a:solidFill>
                  <a:srgbClr val="64748B"/>
                </a:solidFill>
                <a:latin typeface="Arial" pitchFamily="34" charset="0"/>
                <a:ea typeface="Arial" pitchFamily="34" charset="-122"/>
                <a:cs typeface="Arial" pitchFamily="34" charset="-120"/>
              </a:rPr>
              <a:t>Sign 20 independent mortgage brokers for 6 months free in exchange for client access and feedback. 10 brokers × 50 clients = 500 warm, qualified, zero-CAC users.</a:t>
            </a:r>
            <a:endParaRPr lang="en-US" sz="950" dirty="0"/>
          </a:p>
        </p:txBody>
      </p:sp>
      <p:sp>
        <p:nvSpPr>
          <p:cNvPr id="28" name="Shape 26"/>
          <p:cNvSpPr/>
          <p:nvPr/>
        </p:nvSpPr>
        <p:spPr>
          <a:xfrm>
            <a:off x="6766560" y="3392424"/>
            <a:ext cx="1828800" cy="347472"/>
          </a:xfrm>
          <a:prstGeom prst="roundRect">
            <a:avLst>
              <a:gd name="adj" fmla="val 15789"/>
            </a:avLst>
          </a:prstGeom>
          <a:solidFill>
            <a:srgbClr val="D6E8F7"/>
          </a:solidFill>
          <a:ln w="12700">
            <a:solidFill>
              <a:srgbClr val="D6E8F7"/>
            </a:solidFill>
            <a:prstDash val="solid"/>
          </a:ln>
        </p:spPr>
      </p:sp>
      <p:sp>
        <p:nvSpPr>
          <p:cNvPr id="29" name="Text 27"/>
          <p:cNvSpPr/>
          <p:nvPr/>
        </p:nvSpPr>
        <p:spPr>
          <a:xfrm>
            <a:off x="6766560" y="3392424"/>
            <a:ext cx="1828800" cy="347472"/>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20 broker partners, 500 users</a:t>
            </a:r>
            <a:endParaRPr lang="en-US" sz="900" dirty="0"/>
          </a:p>
        </p:txBody>
      </p:sp>
      <p:sp>
        <p:nvSpPr>
          <p:cNvPr id="30" name="Shape 28"/>
          <p:cNvSpPr/>
          <p:nvPr/>
        </p:nvSpPr>
        <p:spPr>
          <a:xfrm>
            <a:off x="365760" y="4078224"/>
            <a:ext cx="8412480" cy="841248"/>
          </a:xfrm>
          <a:prstGeom prst="rect">
            <a:avLst>
              <a:gd name="adj" fmla="val 8696"/>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502920" y="4215384"/>
            <a:ext cx="777240" cy="274320"/>
          </a:xfrm>
          <a:prstGeom prst="roundRect">
            <a:avLst>
              <a:gd name="adj" fmla="val 16667"/>
            </a:avLst>
          </a:prstGeom>
          <a:solidFill>
            <a:srgbClr val="059669"/>
          </a:solidFill>
          <a:ln w="12700">
            <a:solidFill>
              <a:srgbClr val="059669"/>
            </a:solidFill>
            <a:prstDash val="solid"/>
          </a:ln>
        </p:spPr>
      </p:sp>
      <p:sp>
        <p:nvSpPr>
          <p:cNvPr id="32" name="Text 30"/>
          <p:cNvSpPr/>
          <p:nvPr/>
        </p:nvSpPr>
        <p:spPr>
          <a:xfrm>
            <a:off x="502920" y="4215384"/>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Phase 4</a:t>
            </a:r>
            <a:endParaRPr lang="en-US" sz="900" dirty="0"/>
          </a:p>
        </p:txBody>
      </p:sp>
      <p:sp>
        <p:nvSpPr>
          <p:cNvPr id="33" name="Text 31"/>
          <p:cNvSpPr/>
          <p:nvPr/>
        </p:nvSpPr>
        <p:spPr>
          <a:xfrm>
            <a:off x="502920" y="4535424"/>
            <a:ext cx="777240" cy="256032"/>
          </a:xfrm>
          <a:prstGeom prst="rect">
            <a:avLst/>
          </a:prstGeom>
          <a:noFill/>
          <a:ln/>
        </p:spPr>
        <p:txBody>
          <a:bodyPr wrap="square" lIns="0" tIns="0" rIns="0" bIns="0"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Months 6–12</a:t>
            </a:r>
            <a:endParaRPr lang="en-US" sz="800" dirty="0"/>
          </a:p>
        </p:txBody>
      </p:sp>
      <p:sp>
        <p:nvSpPr>
          <p:cNvPr id="34" name="Text 32"/>
          <p:cNvSpPr/>
          <p:nvPr/>
        </p:nvSpPr>
        <p:spPr>
          <a:xfrm>
            <a:off x="1417320" y="4169664"/>
            <a:ext cx="4114800" cy="29260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PR &amp; Flywheel</a:t>
            </a:r>
            <a:endParaRPr lang="en-US" sz="1300" dirty="0"/>
          </a:p>
        </p:txBody>
      </p:sp>
      <p:sp>
        <p:nvSpPr>
          <p:cNvPr id="35" name="Text 33"/>
          <p:cNvSpPr/>
          <p:nvPr/>
        </p:nvSpPr>
        <p:spPr>
          <a:xfrm>
            <a:off x="1417320" y="4480560"/>
            <a:ext cx="5212080" cy="365760"/>
          </a:xfrm>
          <a:prstGeom prst="rect">
            <a:avLst/>
          </a:prstGeom>
          <a:noFill/>
          <a:ln/>
        </p:spPr>
        <p:txBody>
          <a:bodyPr wrap="square" lIns="0" tIns="0" rIns="0" bIns="0" rtlCol="0" anchor="ctr"/>
          <a:lstStyle/>
          <a:p>
            <a:pPr indent="0" marL="0">
              <a:buNone/>
            </a:pPr>
            <a:r>
              <a:rPr lang="en-US" sz="950" dirty="0">
                <a:solidFill>
                  <a:srgbClr val="64748B"/>
                </a:solidFill>
                <a:latin typeface="Arial" pitchFamily="34" charset="0"/>
                <a:ea typeface="Arial" pitchFamily="34" charset="-122"/>
                <a:cs typeface="Arial" pitchFamily="34" charset="-120"/>
              </a:rPr>
              <a:t>Publish proprietary data insights (hidden cost averages, listing euphemism decoder). Land coverage in The Guardian, BBC, and Telegraph property sections. Community word-of-mouth compounds.</a:t>
            </a:r>
            <a:endParaRPr lang="en-US" sz="950" dirty="0"/>
          </a:p>
        </p:txBody>
      </p:sp>
      <p:sp>
        <p:nvSpPr>
          <p:cNvPr id="36" name="Shape 34"/>
          <p:cNvSpPr/>
          <p:nvPr/>
        </p:nvSpPr>
        <p:spPr>
          <a:xfrm>
            <a:off x="6766560" y="4325112"/>
            <a:ext cx="1828800" cy="347472"/>
          </a:xfrm>
          <a:prstGeom prst="roundRect">
            <a:avLst>
              <a:gd name="adj" fmla="val 15789"/>
            </a:avLst>
          </a:prstGeom>
          <a:solidFill>
            <a:srgbClr val="D6E8F7"/>
          </a:solidFill>
          <a:ln w="12700">
            <a:solidFill>
              <a:srgbClr val="D6E8F7"/>
            </a:solidFill>
            <a:prstDash val="solid"/>
          </a:ln>
        </p:spPr>
      </p:sp>
      <p:sp>
        <p:nvSpPr>
          <p:cNvPr id="37" name="Text 35"/>
          <p:cNvSpPr/>
          <p:nvPr/>
        </p:nvSpPr>
        <p:spPr>
          <a:xfrm>
            <a:off x="6766560" y="4325112"/>
            <a:ext cx="1828800" cy="347472"/>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40% referral acquisition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280160"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280160"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VALIDATION</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Early signals &amp; validation</a:t>
            </a:r>
            <a:endParaRPr lang="en-US" sz="3000" dirty="0"/>
          </a:p>
        </p:txBody>
      </p:sp>
      <p:sp>
        <p:nvSpPr>
          <p:cNvPr id="6" name="Shape 4"/>
          <p:cNvSpPr/>
          <p:nvPr/>
        </p:nvSpPr>
        <p:spPr>
          <a:xfrm>
            <a:off x="365760" y="1234440"/>
            <a:ext cx="5029200" cy="3566160"/>
          </a:xfrm>
          <a:prstGeom prst="rect">
            <a:avLst>
              <a:gd name="adj" fmla="val 205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48640" y="1389888"/>
            <a:ext cx="4663440" cy="347472"/>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User Research (20 first-time buyers interviewed)</a:t>
            </a:r>
            <a:endParaRPr lang="en-US" sz="1200" dirty="0"/>
          </a:p>
        </p:txBody>
      </p:sp>
      <p:sp>
        <p:nvSpPr>
          <p:cNvPr id="8" name="Text 6"/>
          <p:cNvSpPr/>
          <p:nvPr/>
        </p:nvSpPr>
        <p:spPr>
          <a:xfrm>
            <a:off x="548640" y="1828800"/>
            <a:ext cx="914400" cy="384048"/>
          </a:xfrm>
          <a:prstGeom prst="rect">
            <a:avLst/>
          </a:prstGeom>
          <a:noFill/>
          <a:ln/>
        </p:spPr>
        <p:txBody>
          <a:bodyPr wrap="square" lIns="0" tIns="0" rIns="0" bIns="0" rtlCol="0" anchor="ctr"/>
          <a:lstStyle/>
          <a:p>
            <a:pPr indent="0" marL="0">
              <a:buNone/>
            </a:pPr>
            <a:r>
              <a:rPr lang="en-US" sz="2200" b="1" dirty="0">
                <a:solidFill>
                  <a:srgbClr val="1A56A0"/>
                </a:solidFill>
                <a:latin typeface="Cambria" pitchFamily="34" charset="0"/>
                <a:ea typeface="Cambria" pitchFamily="34" charset="-122"/>
                <a:cs typeface="Cambria" pitchFamily="34" charset="-120"/>
              </a:rPr>
              <a:t>95%</a:t>
            </a:r>
            <a:endParaRPr lang="en-US" sz="2200" dirty="0"/>
          </a:p>
        </p:txBody>
      </p:sp>
      <p:sp>
        <p:nvSpPr>
          <p:cNvPr id="9" name="Text 7"/>
          <p:cNvSpPr/>
          <p:nvPr/>
        </p:nvSpPr>
        <p:spPr>
          <a:xfrm>
            <a:off x="1554480" y="1883664"/>
            <a:ext cx="3703320" cy="32004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said they felt "mostly alone" through the buying process</a:t>
            </a:r>
            <a:endParaRPr lang="en-US" sz="1100" dirty="0"/>
          </a:p>
        </p:txBody>
      </p:sp>
      <p:sp>
        <p:nvSpPr>
          <p:cNvPr id="10" name="Text 8"/>
          <p:cNvSpPr/>
          <p:nvPr/>
        </p:nvSpPr>
        <p:spPr>
          <a:xfrm>
            <a:off x="548640" y="2359152"/>
            <a:ext cx="914400" cy="384048"/>
          </a:xfrm>
          <a:prstGeom prst="rect">
            <a:avLst/>
          </a:prstGeom>
          <a:noFill/>
          <a:ln/>
        </p:spPr>
        <p:txBody>
          <a:bodyPr wrap="square" lIns="0" tIns="0" rIns="0" bIns="0" rtlCol="0" anchor="ctr"/>
          <a:lstStyle/>
          <a:p>
            <a:pPr indent="0" marL="0">
              <a:buNone/>
            </a:pPr>
            <a:r>
              <a:rPr lang="en-US" sz="2200" b="1" dirty="0">
                <a:solidFill>
                  <a:srgbClr val="1A56A0"/>
                </a:solidFill>
                <a:latin typeface="Cambria" pitchFamily="34" charset="0"/>
                <a:ea typeface="Cambria" pitchFamily="34" charset="-122"/>
                <a:cs typeface="Cambria" pitchFamily="34" charset="-120"/>
              </a:rPr>
              <a:t>90%</a:t>
            </a:r>
            <a:endParaRPr lang="en-US" sz="2200" dirty="0"/>
          </a:p>
        </p:txBody>
      </p:sp>
      <p:sp>
        <p:nvSpPr>
          <p:cNvPr id="11" name="Text 9"/>
          <p:cNvSpPr/>
          <p:nvPr/>
        </p:nvSpPr>
        <p:spPr>
          <a:xfrm>
            <a:off x="1554480" y="2414016"/>
            <a:ext cx="3703320" cy="32004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were surprised by costs beyond the property price</a:t>
            </a:r>
            <a:endParaRPr lang="en-US" sz="1100" dirty="0"/>
          </a:p>
        </p:txBody>
      </p:sp>
      <p:sp>
        <p:nvSpPr>
          <p:cNvPr id="12" name="Text 10"/>
          <p:cNvSpPr/>
          <p:nvPr/>
        </p:nvSpPr>
        <p:spPr>
          <a:xfrm>
            <a:off x="548640" y="2889504"/>
            <a:ext cx="914400" cy="384048"/>
          </a:xfrm>
          <a:prstGeom prst="rect">
            <a:avLst/>
          </a:prstGeom>
          <a:noFill/>
          <a:ln/>
        </p:spPr>
        <p:txBody>
          <a:bodyPr wrap="square" lIns="0" tIns="0" rIns="0" bIns="0" rtlCol="0" anchor="ctr"/>
          <a:lstStyle/>
          <a:p>
            <a:pPr indent="0" marL="0">
              <a:buNone/>
            </a:pPr>
            <a:r>
              <a:rPr lang="en-US" sz="2200" b="1" dirty="0">
                <a:solidFill>
                  <a:srgbClr val="1A56A0"/>
                </a:solidFill>
                <a:latin typeface="Cambria" pitchFamily="34" charset="0"/>
                <a:ea typeface="Cambria" pitchFamily="34" charset="-122"/>
                <a:cs typeface="Cambria" pitchFamily="34" charset="-120"/>
              </a:rPr>
              <a:t>80%</a:t>
            </a:r>
            <a:endParaRPr lang="en-US" sz="2200" dirty="0"/>
          </a:p>
        </p:txBody>
      </p:sp>
      <p:sp>
        <p:nvSpPr>
          <p:cNvPr id="13" name="Text 11"/>
          <p:cNvSpPr/>
          <p:nvPr/>
        </p:nvSpPr>
        <p:spPr>
          <a:xfrm>
            <a:off x="1554480" y="2944368"/>
            <a:ext cx="3703320" cy="32004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did not fully understand the documents they signed</a:t>
            </a:r>
            <a:endParaRPr lang="en-US" sz="1100" dirty="0"/>
          </a:p>
        </p:txBody>
      </p:sp>
      <p:sp>
        <p:nvSpPr>
          <p:cNvPr id="14" name="Text 12"/>
          <p:cNvSpPr/>
          <p:nvPr/>
        </p:nvSpPr>
        <p:spPr>
          <a:xfrm>
            <a:off x="548640" y="3419856"/>
            <a:ext cx="914400" cy="384048"/>
          </a:xfrm>
          <a:prstGeom prst="rect">
            <a:avLst/>
          </a:prstGeom>
          <a:noFill/>
          <a:ln/>
        </p:spPr>
        <p:txBody>
          <a:bodyPr wrap="square" lIns="0" tIns="0" rIns="0" bIns="0" rtlCol="0" anchor="ctr"/>
          <a:lstStyle/>
          <a:p>
            <a:pPr indent="0" marL="0">
              <a:buNone/>
            </a:pPr>
            <a:r>
              <a:rPr lang="en-US" sz="2200" b="1" dirty="0">
                <a:solidFill>
                  <a:srgbClr val="1A56A0"/>
                </a:solidFill>
                <a:latin typeface="Cambria" pitchFamily="34" charset="0"/>
                <a:ea typeface="Cambria" pitchFamily="34" charset="-122"/>
                <a:cs typeface="Cambria" pitchFamily="34" charset="-120"/>
              </a:rPr>
              <a:t>75%</a:t>
            </a:r>
            <a:endParaRPr lang="en-US" sz="2200" dirty="0"/>
          </a:p>
        </p:txBody>
      </p:sp>
      <p:sp>
        <p:nvSpPr>
          <p:cNvPr id="15" name="Text 13"/>
          <p:cNvSpPr/>
          <p:nvPr/>
        </p:nvSpPr>
        <p:spPr>
          <a:xfrm>
            <a:off x="1554480" y="3474720"/>
            <a:ext cx="3703320" cy="32004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said they would have paid for better guidance</a:t>
            </a:r>
            <a:endParaRPr lang="en-US" sz="1100" dirty="0"/>
          </a:p>
        </p:txBody>
      </p:sp>
      <p:sp>
        <p:nvSpPr>
          <p:cNvPr id="16" name="Text 14"/>
          <p:cNvSpPr/>
          <p:nvPr/>
        </p:nvSpPr>
        <p:spPr>
          <a:xfrm>
            <a:off x="548640" y="3950208"/>
            <a:ext cx="914400" cy="384048"/>
          </a:xfrm>
          <a:prstGeom prst="rect">
            <a:avLst/>
          </a:prstGeom>
          <a:noFill/>
          <a:ln/>
        </p:spPr>
        <p:txBody>
          <a:bodyPr wrap="square" lIns="0" tIns="0" rIns="0" bIns="0" rtlCol="0" anchor="ctr"/>
          <a:lstStyle/>
          <a:p>
            <a:pPr indent="0" marL="0">
              <a:buNone/>
            </a:pPr>
            <a:r>
              <a:rPr lang="en-US" sz="2200" b="1" dirty="0">
                <a:solidFill>
                  <a:srgbClr val="1A56A0"/>
                </a:solidFill>
                <a:latin typeface="Cambria" pitchFamily="34" charset="0"/>
                <a:ea typeface="Cambria" pitchFamily="34" charset="-122"/>
                <a:cs typeface="Cambria" pitchFamily="34" charset="-120"/>
              </a:rPr>
              <a:t>£200</a:t>
            </a:r>
            <a:endParaRPr lang="en-US" sz="2200" dirty="0"/>
          </a:p>
        </p:txBody>
      </p:sp>
      <p:sp>
        <p:nvSpPr>
          <p:cNvPr id="17" name="Text 15"/>
          <p:cNvSpPr/>
          <p:nvPr/>
        </p:nvSpPr>
        <p:spPr>
          <a:xfrm>
            <a:off x="1554480" y="4005072"/>
            <a:ext cx="3703320" cy="32004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median stated willingness to pay for the full journey</a:t>
            </a:r>
            <a:endParaRPr lang="en-US" sz="1100" dirty="0"/>
          </a:p>
        </p:txBody>
      </p:sp>
      <p:sp>
        <p:nvSpPr>
          <p:cNvPr id="18" name="Shape 16"/>
          <p:cNvSpPr/>
          <p:nvPr/>
        </p:nvSpPr>
        <p:spPr>
          <a:xfrm>
            <a:off x="5577840" y="1234440"/>
            <a:ext cx="3246120" cy="3566160"/>
          </a:xfrm>
          <a:prstGeom prst="rect">
            <a:avLst>
              <a:gd name="adj" fmla="val 2254"/>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715000" y="1389888"/>
            <a:ext cx="2971800" cy="347472"/>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Product Traction</a:t>
            </a:r>
            <a:endParaRPr lang="en-US" sz="1200" dirty="0"/>
          </a:p>
        </p:txBody>
      </p:sp>
      <p:sp>
        <p:nvSpPr>
          <p:cNvPr id="20" name="Shape 18"/>
          <p:cNvSpPr/>
          <p:nvPr/>
        </p:nvSpPr>
        <p:spPr>
          <a:xfrm>
            <a:off x="5715000" y="1847088"/>
            <a:ext cx="777240" cy="384048"/>
          </a:xfrm>
          <a:prstGeom prst="roundRect">
            <a:avLst>
              <a:gd name="adj" fmla="val 14286"/>
            </a:avLst>
          </a:prstGeom>
          <a:solidFill>
            <a:srgbClr val="1A56A0"/>
          </a:solidFill>
          <a:ln w="12700">
            <a:solidFill>
              <a:srgbClr val="1A56A0"/>
            </a:solidFill>
            <a:prstDash val="solid"/>
          </a:ln>
        </p:spPr>
      </p:sp>
      <p:sp>
        <p:nvSpPr>
          <p:cNvPr id="21" name="Text 19"/>
          <p:cNvSpPr/>
          <p:nvPr/>
        </p:nvSpPr>
        <p:spPr>
          <a:xfrm>
            <a:off x="5715000" y="1847088"/>
            <a:ext cx="7772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MVP</a:t>
            </a:r>
            <a:endParaRPr lang="en-US" sz="1300" dirty="0"/>
          </a:p>
        </p:txBody>
      </p:sp>
      <p:sp>
        <p:nvSpPr>
          <p:cNvPr id="22" name="Text 20"/>
          <p:cNvSpPr/>
          <p:nvPr/>
        </p:nvSpPr>
        <p:spPr>
          <a:xfrm>
            <a:off x="6583680" y="1911096"/>
            <a:ext cx="214884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Built &amp; in beta</a:t>
            </a:r>
            <a:endParaRPr lang="en-US" sz="1100" dirty="0"/>
          </a:p>
        </p:txBody>
      </p:sp>
      <p:sp>
        <p:nvSpPr>
          <p:cNvPr id="23" name="Shape 21"/>
          <p:cNvSpPr/>
          <p:nvPr/>
        </p:nvSpPr>
        <p:spPr>
          <a:xfrm>
            <a:off x="5715000" y="2487168"/>
            <a:ext cx="777240" cy="384048"/>
          </a:xfrm>
          <a:prstGeom prst="roundRect">
            <a:avLst>
              <a:gd name="adj" fmla="val 14286"/>
            </a:avLst>
          </a:prstGeom>
          <a:solidFill>
            <a:srgbClr val="D6E8F7"/>
          </a:solidFill>
          <a:ln w="12700">
            <a:solidFill>
              <a:srgbClr val="D6E8F7"/>
            </a:solidFill>
            <a:prstDash val="solid"/>
          </a:ln>
        </p:spPr>
      </p:sp>
      <p:sp>
        <p:nvSpPr>
          <p:cNvPr id="24" name="Text 22"/>
          <p:cNvSpPr/>
          <p:nvPr/>
        </p:nvSpPr>
        <p:spPr>
          <a:xfrm>
            <a:off x="5715000" y="2487168"/>
            <a:ext cx="777240" cy="384048"/>
          </a:xfrm>
          <a:prstGeom prst="rect">
            <a:avLst/>
          </a:prstGeom>
          <a:noFill/>
          <a:ln/>
        </p:spPr>
        <p:txBody>
          <a:bodyPr wrap="square" lIns="0" tIns="0" rIns="0" bIns="0" rtlCol="0" anchor="ctr"/>
          <a:lstStyle/>
          <a:p>
            <a:pPr algn="ctr" indent="0" marL="0">
              <a:buNone/>
            </a:pPr>
            <a:r>
              <a:rPr lang="en-US" sz="1300" b="1" dirty="0">
                <a:solidFill>
                  <a:srgbClr val="1A56A0"/>
                </a:solidFill>
                <a:latin typeface="Cambria" pitchFamily="34" charset="0"/>
                <a:ea typeface="Cambria" pitchFamily="34" charset="-122"/>
                <a:cs typeface="Cambria" pitchFamily="34" charset="-120"/>
              </a:rPr>
              <a:t>47</a:t>
            </a:r>
            <a:endParaRPr lang="en-US" sz="1300" dirty="0"/>
          </a:p>
        </p:txBody>
      </p:sp>
      <p:sp>
        <p:nvSpPr>
          <p:cNvPr id="25" name="Text 23"/>
          <p:cNvSpPr/>
          <p:nvPr/>
        </p:nvSpPr>
        <p:spPr>
          <a:xfrm>
            <a:off x="6583680" y="2551176"/>
            <a:ext cx="214884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Beta users active</a:t>
            </a:r>
            <a:endParaRPr lang="en-US" sz="1100" dirty="0"/>
          </a:p>
        </p:txBody>
      </p:sp>
      <p:sp>
        <p:nvSpPr>
          <p:cNvPr id="26" name="Shape 24"/>
          <p:cNvSpPr/>
          <p:nvPr/>
        </p:nvSpPr>
        <p:spPr>
          <a:xfrm>
            <a:off x="5715000" y="3127248"/>
            <a:ext cx="777240" cy="384048"/>
          </a:xfrm>
          <a:prstGeom prst="roundRect">
            <a:avLst>
              <a:gd name="adj" fmla="val 14286"/>
            </a:avLst>
          </a:prstGeom>
          <a:solidFill>
            <a:srgbClr val="D6E8F7"/>
          </a:solidFill>
          <a:ln w="12700">
            <a:solidFill>
              <a:srgbClr val="D6E8F7"/>
            </a:solidFill>
            <a:prstDash val="solid"/>
          </a:ln>
        </p:spPr>
      </p:sp>
      <p:sp>
        <p:nvSpPr>
          <p:cNvPr id="27" name="Text 25"/>
          <p:cNvSpPr/>
          <p:nvPr/>
        </p:nvSpPr>
        <p:spPr>
          <a:xfrm>
            <a:off x="5715000" y="3127248"/>
            <a:ext cx="777240" cy="384048"/>
          </a:xfrm>
          <a:prstGeom prst="rect">
            <a:avLst/>
          </a:prstGeom>
          <a:noFill/>
          <a:ln/>
        </p:spPr>
        <p:txBody>
          <a:bodyPr wrap="square" lIns="0" tIns="0" rIns="0" bIns="0" rtlCol="0" anchor="ctr"/>
          <a:lstStyle/>
          <a:p>
            <a:pPr algn="ctr" indent="0" marL="0">
              <a:buNone/>
            </a:pPr>
            <a:r>
              <a:rPr lang="en-US" sz="1300" b="1" dirty="0">
                <a:solidFill>
                  <a:srgbClr val="1A56A0"/>
                </a:solidFill>
                <a:latin typeface="Cambria" pitchFamily="34" charset="0"/>
                <a:ea typeface="Cambria" pitchFamily="34" charset="-122"/>
                <a:cs typeface="Cambria" pitchFamily="34" charset="-120"/>
              </a:rPr>
              <a:t>68</a:t>
            </a:r>
            <a:endParaRPr lang="en-US" sz="1300" dirty="0"/>
          </a:p>
        </p:txBody>
      </p:sp>
      <p:sp>
        <p:nvSpPr>
          <p:cNvPr id="28" name="Text 26"/>
          <p:cNvSpPr/>
          <p:nvPr/>
        </p:nvSpPr>
        <p:spPr>
          <a:xfrm>
            <a:off x="6583680" y="3191256"/>
            <a:ext cx="214884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NPS score</a:t>
            </a:r>
            <a:endParaRPr lang="en-US" sz="1100" dirty="0"/>
          </a:p>
        </p:txBody>
      </p:sp>
      <p:sp>
        <p:nvSpPr>
          <p:cNvPr id="29" name="Shape 27"/>
          <p:cNvSpPr/>
          <p:nvPr/>
        </p:nvSpPr>
        <p:spPr>
          <a:xfrm>
            <a:off x="5715000" y="3767328"/>
            <a:ext cx="777240" cy="384048"/>
          </a:xfrm>
          <a:prstGeom prst="roundRect">
            <a:avLst>
              <a:gd name="adj" fmla="val 14286"/>
            </a:avLst>
          </a:prstGeom>
          <a:solidFill>
            <a:srgbClr val="D6E8F7"/>
          </a:solidFill>
          <a:ln w="12700">
            <a:solidFill>
              <a:srgbClr val="D6E8F7"/>
            </a:solidFill>
            <a:prstDash val="solid"/>
          </a:ln>
        </p:spPr>
      </p:sp>
      <p:sp>
        <p:nvSpPr>
          <p:cNvPr id="30" name="Text 28"/>
          <p:cNvSpPr/>
          <p:nvPr/>
        </p:nvSpPr>
        <p:spPr>
          <a:xfrm>
            <a:off x="5715000" y="3767328"/>
            <a:ext cx="777240" cy="384048"/>
          </a:xfrm>
          <a:prstGeom prst="rect">
            <a:avLst/>
          </a:prstGeom>
          <a:noFill/>
          <a:ln/>
        </p:spPr>
        <p:txBody>
          <a:bodyPr wrap="square" lIns="0" tIns="0" rIns="0" bIns="0" rtlCol="0" anchor="ctr"/>
          <a:lstStyle/>
          <a:p>
            <a:pPr algn="ctr" indent="0" marL="0">
              <a:buNone/>
            </a:pPr>
            <a:r>
              <a:rPr lang="en-US" sz="1300" b="1" dirty="0">
                <a:solidFill>
                  <a:srgbClr val="1A56A0"/>
                </a:solidFill>
                <a:latin typeface="Cambria" pitchFamily="34" charset="0"/>
                <a:ea typeface="Cambria" pitchFamily="34" charset="-122"/>
                <a:cs typeface="Cambria" pitchFamily="34" charset="-120"/>
              </a:rPr>
              <a:t>2</a:t>
            </a:r>
            <a:endParaRPr lang="en-US" sz="1300" dirty="0"/>
          </a:p>
        </p:txBody>
      </p:sp>
      <p:sp>
        <p:nvSpPr>
          <p:cNvPr id="31" name="Text 29"/>
          <p:cNvSpPr/>
          <p:nvPr/>
        </p:nvSpPr>
        <p:spPr>
          <a:xfrm>
            <a:off x="6583680" y="3831336"/>
            <a:ext cx="214884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Broker pilots live</a:t>
            </a:r>
            <a:endParaRPr lang="en-US" sz="1100" dirty="0"/>
          </a:p>
        </p:txBody>
      </p:sp>
      <p:sp>
        <p:nvSpPr>
          <p:cNvPr id="32" name="Shape 30"/>
          <p:cNvSpPr/>
          <p:nvPr/>
        </p:nvSpPr>
        <p:spPr>
          <a:xfrm>
            <a:off x="5715000" y="4407408"/>
            <a:ext cx="777240" cy="384048"/>
          </a:xfrm>
          <a:prstGeom prst="roundRect">
            <a:avLst>
              <a:gd name="adj" fmla="val 14286"/>
            </a:avLst>
          </a:prstGeom>
          <a:solidFill>
            <a:srgbClr val="D6E8F7"/>
          </a:solidFill>
          <a:ln w="12700">
            <a:solidFill>
              <a:srgbClr val="D6E8F7"/>
            </a:solidFill>
            <a:prstDash val="solid"/>
          </a:ln>
        </p:spPr>
      </p:sp>
      <p:sp>
        <p:nvSpPr>
          <p:cNvPr id="33" name="Text 31"/>
          <p:cNvSpPr/>
          <p:nvPr/>
        </p:nvSpPr>
        <p:spPr>
          <a:xfrm>
            <a:off x="5715000" y="4407408"/>
            <a:ext cx="777240" cy="384048"/>
          </a:xfrm>
          <a:prstGeom prst="rect">
            <a:avLst/>
          </a:prstGeom>
          <a:noFill/>
          <a:ln/>
        </p:spPr>
        <p:txBody>
          <a:bodyPr wrap="square" lIns="0" tIns="0" rIns="0" bIns="0" rtlCol="0" anchor="ctr"/>
          <a:lstStyle/>
          <a:p>
            <a:pPr algn="ctr" indent="0" marL="0">
              <a:buNone/>
            </a:pPr>
            <a:r>
              <a:rPr lang="en-US" sz="1300" b="1" dirty="0">
                <a:solidFill>
                  <a:srgbClr val="1A56A0"/>
                </a:solidFill>
                <a:latin typeface="Cambria" pitchFamily="34" charset="0"/>
                <a:ea typeface="Cambria" pitchFamily="34" charset="-122"/>
                <a:cs typeface="Cambria" pitchFamily="34" charset="-120"/>
              </a:rPr>
              <a:t>£0</a:t>
            </a:r>
            <a:endParaRPr lang="en-US" sz="1300" dirty="0"/>
          </a:p>
        </p:txBody>
      </p:sp>
      <p:sp>
        <p:nvSpPr>
          <p:cNvPr id="34" name="Text 32"/>
          <p:cNvSpPr/>
          <p:nvPr/>
        </p:nvSpPr>
        <p:spPr>
          <a:xfrm>
            <a:off x="6583680" y="4471416"/>
            <a:ext cx="214884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CAC so far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1380744"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1380744"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COMPETITION</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9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No one owns the end-to-end journey</a:t>
            </a:r>
            <a:endParaRPr lang="en-US" sz="3000" dirty="0"/>
          </a:p>
        </p:txBody>
      </p:sp>
      <p:sp>
        <p:nvSpPr>
          <p:cNvPr id="6" name="Shape 4"/>
          <p:cNvSpPr/>
          <p:nvPr/>
        </p:nvSpPr>
        <p:spPr>
          <a:xfrm>
            <a:off x="365760" y="1188720"/>
            <a:ext cx="5303520" cy="3657600"/>
          </a:xfrm>
          <a:prstGeom prst="rect">
            <a:avLst>
              <a:gd name="adj" fmla="val 2000"/>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685800" y="3017520"/>
            <a:ext cx="4663440" cy="36576"/>
          </a:xfrm>
          <a:prstGeom prst="rect">
            <a:avLst/>
          </a:prstGeom>
          <a:solidFill>
            <a:srgbClr val="CBD5E1"/>
          </a:solidFill>
          <a:ln w="12700">
            <a:solidFill>
              <a:srgbClr val="CBD5E1"/>
            </a:solidFill>
            <a:prstDash val="solid"/>
          </a:ln>
        </p:spPr>
      </p:sp>
      <p:sp>
        <p:nvSpPr>
          <p:cNvPr id="8" name="Text 6"/>
          <p:cNvSpPr/>
          <p:nvPr/>
        </p:nvSpPr>
        <p:spPr>
          <a:xfrm>
            <a:off x="685800" y="3127248"/>
            <a:ext cx="164592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Seller-Aligned</a:t>
            </a:r>
            <a:endParaRPr lang="en-US" sz="900" dirty="0"/>
          </a:p>
        </p:txBody>
      </p:sp>
      <p:sp>
        <p:nvSpPr>
          <p:cNvPr id="9" name="Text 7"/>
          <p:cNvSpPr/>
          <p:nvPr/>
        </p:nvSpPr>
        <p:spPr>
          <a:xfrm>
            <a:off x="3840480" y="3127248"/>
            <a:ext cx="1463040" cy="228600"/>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Buyer-Aligned →</a:t>
            </a:r>
            <a:endParaRPr lang="en-US" sz="900" dirty="0"/>
          </a:p>
        </p:txBody>
      </p:sp>
      <p:sp>
        <p:nvSpPr>
          <p:cNvPr id="10" name="Text 8"/>
          <p:cNvSpPr/>
          <p:nvPr/>
        </p:nvSpPr>
        <p:spPr>
          <a:xfrm>
            <a:off x="384048" y="4251960"/>
            <a:ext cx="914400" cy="502920"/>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Point</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Solution</a:t>
            </a:r>
            <a:endParaRPr lang="en-US" sz="900" dirty="0"/>
          </a:p>
        </p:txBody>
      </p:sp>
      <p:sp>
        <p:nvSpPr>
          <p:cNvPr id="11" name="Text 9"/>
          <p:cNvSpPr/>
          <p:nvPr/>
        </p:nvSpPr>
        <p:spPr>
          <a:xfrm>
            <a:off x="384048" y="1261872"/>
            <a:ext cx="914400" cy="502920"/>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End-to-End</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Journey ↑</a:t>
            </a:r>
            <a:endParaRPr lang="en-US" sz="900" dirty="0"/>
          </a:p>
        </p:txBody>
      </p:sp>
      <p:sp>
        <p:nvSpPr>
          <p:cNvPr id="12" name="Shape 10"/>
          <p:cNvSpPr/>
          <p:nvPr/>
        </p:nvSpPr>
        <p:spPr>
          <a:xfrm>
            <a:off x="868680" y="1371600"/>
            <a:ext cx="36576" cy="3255264"/>
          </a:xfrm>
          <a:prstGeom prst="rect">
            <a:avLst/>
          </a:prstGeom>
          <a:solidFill>
            <a:srgbClr val="CBD5E1"/>
          </a:solidFill>
          <a:ln w="12700">
            <a:solidFill>
              <a:srgbClr val="CBD5E1"/>
            </a:solidFill>
            <a:prstDash val="solid"/>
          </a:ln>
        </p:spPr>
      </p:sp>
      <p:sp>
        <p:nvSpPr>
          <p:cNvPr id="13" name="Shape 11"/>
          <p:cNvSpPr/>
          <p:nvPr/>
        </p:nvSpPr>
        <p:spPr>
          <a:xfrm>
            <a:off x="1344168" y="3995928"/>
            <a:ext cx="237744" cy="237744"/>
          </a:xfrm>
          <a:prstGeom prst="ellipse">
            <a:avLst/>
          </a:prstGeom>
          <a:solidFill>
            <a:srgbClr val="DC2626"/>
          </a:solidFill>
          <a:ln w="12700">
            <a:solidFill>
              <a:srgbClr val="DC2626"/>
            </a:solidFill>
            <a:prstDash val="solid"/>
          </a:ln>
        </p:spPr>
      </p:sp>
      <p:sp>
        <p:nvSpPr>
          <p:cNvPr id="14" name="Text 12"/>
          <p:cNvSpPr/>
          <p:nvPr/>
        </p:nvSpPr>
        <p:spPr>
          <a:xfrm>
            <a:off x="1627632" y="4005072"/>
            <a:ext cx="1005840" cy="320040"/>
          </a:xfrm>
          <a:prstGeom prst="rect">
            <a:avLst/>
          </a:prstGeom>
          <a:noFill/>
          <a:ln/>
        </p:spPr>
        <p:txBody>
          <a:bodyPr wrap="square" lIns="0" tIns="0" rIns="0" bIns="0" rtlCol="0" anchor="ctr"/>
          <a:lstStyle/>
          <a:p>
            <a:pPr indent="0" marL="0">
              <a:buNone/>
            </a:pPr>
            <a:r>
              <a:rPr lang="en-US" sz="950" b="1" dirty="0">
                <a:solidFill>
                  <a:srgbClr val="DC2626"/>
                </a:solidFill>
                <a:latin typeface="Arial" pitchFamily="34" charset="0"/>
                <a:ea typeface="Arial" pitchFamily="34" charset="-122"/>
                <a:cs typeface="Arial" pitchFamily="34" charset="-120"/>
              </a:rPr>
              <a:t>Rightmove</a:t>
            </a:r>
            <a:endParaRPr lang="en-US" sz="950" dirty="0"/>
          </a:p>
        </p:txBody>
      </p:sp>
      <p:sp>
        <p:nvSpPr>
          <p:cNvPr id="15" name="Shape 13"/>
          <p:cNvSpPr/>
          <p:nvPr/>
        </p:nvSpPr>
        <p:spPr>
          <a:xfrm>
            <a:off x="1801368" y="4133088"/>
            <a:ext cx="237744" cy="237744"/>
          </a:xfrm>
          <a:prstGeom prst="ellipse">
            <a:avLst/>
          </a:prstGeom>
          <a:solidFill>
            <a:srgbClr val="D97706"/>
          </a:solidFill>
          <a:ln w="12700">
            <a:solidFill>
              <a:srgbClr val="D97706"/>
            </a:solidFill>
            <a:prstDash val="solid"/>
          </a:ln>
        </p:spPr>
      </p:sp>
      <p:sp>
        <p:nvSpPr>
          <p:cNvPr id="16" name="Text 14"/>
          <p:cNvSpPr/>
          <p:nvPr/>
        </p:nvSpPr>
        <p:spPr>
          <a:xfrm>
            <a:off x="2084832" y="4142232"/>
            <a:ext cx="1005840" cy="320040"/>
          </a:xfrm>
          <a:prstGeom prst="rect">
            <a:avLst/>
          </a:prstGeom>
          <a:noFill/>
          <a:ln/>
        </p:spPr>
        <p:txBody>
          <a:bodyPr wrap="square" lIns="0" tIns="0" rIns="0" bIns="0" rtlCol="0" anchor="ctr"/>
          <a:lstStyle/>
          <a:p>
            <a:pPr indent="0" marL="0">
              <a:buNone/>
            </a:pPr>
            <a:r>
              <a:rPr lang="en-US" sz="950" b="1" dirty="0">
                <a:solidFill>
                  <a:srgbClr val="D97706"/>
                </a:solidFill>
                <a:latin typeface="Arial" pitchFamily="34" charset="0"/>
                <a:ea typeface="Arial" pitchFamily="34" charset="-122"/>
                <a:cs typeface="Arial" pitchFamily="34" charset="-120"/>
              </a:rPr>
              <a:t>Zoopla</a:t>
            </a:r>
            <a:endParaRPr lang="en-US" sz="950" dirty="0"/>
          </a:p>
        </p:txBody>
      </p:sp>
      <p:sp>
        <p:nvSpPr>
          <p:cNvPr id="17" name="Shape 15"/>
          <p:cNvSpPr/>
          <p:nvPr/>
        </p:nvSpPr>
        <p:spPr>
          <a:xfrm>
            <a:off x="2258568" y="3355848"/>
            <a:ext cx="237744" cy="237744"/>
          </a:xfrm>
          <a:prstGeom prst="ellipse">
            <a:avLst/>
          </a:prstGeom>
          <a:solidFill>
            <a:srgbClr val="7C3AED"/>
          </a:solidFill>
          <a:ln w="12700">
            <a:solidFill>
              <a:srgbClr val="7C3AED"/>
            </a:solidFill>
            <a:prstDash val="solid"/>
          </a:ln>
        </p:spPr>
      </p:sp>
      <p:sp>
        <p:nvSpPr>
          <p:cNvPr id="18" name="Text 16"/>
          <p:cNvSpPr/>
          <p:nvPr/>
        </p:nvSpPr>
        <p:spPr>
          <a:xfrm>
            <a:off x="2542032" y="3364992"/>
            <a:ext cx="1005840" cy="320040"/>
          </a:xfrm>
          <a:prstGeom prst="rect">
            <a:avLst/>
          </a:prstGeom>
          <a:noFill/>
          <a:ln/>
        </p:spPr>
        <p:txBody>
          <a:bodyPr wrap="square" lIns="0" tIns="0" rIns="0" bIns="0" rtlCol="0" anchor="ctr"/>
          <a:lstStyle/>
          <a:p>
            <a:pPr indent="0" marL="0">
              <a:buNone/>
            </a:pPr>
            <a:r>
              <a:rPr lang="en-US" sz="950" b="1" dirty="0">
                <a:solidFill>
                  <a:srgbClr val="7C3AED"/>
                </a:solidFill>
                <a:latin typeface="Arial" pitchFamily="34" charset="0"/>
                <a:ea typeface="Arial" pitchFamily="34" charset="-122"/>
                <a:cs typeface="Arial" pitchFamily="34" charset="-120"/>
              </a:rPr>
              <a:t>Halifax</a:t>
            </a:r>
            <a:endParaRPr lang="en-US" sz="950" dirty="0"/>
          </a:p>
          <a:p>
            <a:pPr indent="0" marL="0">
              <a:buNone/>
            </a:pPr>
            <a:r>
              <a:rPr lang="en-US" sz="950" b="1" dirty="0">
                <a:solidFill>
                  <a:srgbClr val="7C3AED"/>
                </a:solidFill>
                <a:latin typeface="Arial" pitchFamily="34" charset="0"/>
                <a:ea typeface="Arial" pitchFamily="34" charset="-122"/>
                <a:cs typeface="Arial" pitchFamily="34" charset="-120"/>
              </a:rPr>
              <a:t>Hub</a:t>
            </a:r>
            <a:endParaRPr lang="en-US" sz="950" dirty="0"/>
          </a:p>
        </p:txBody>
      </p:sp>
      <p:sp>
        <p:nvSpPr>
          <p:cNvPr id="19" name="Shape 17"/>
          <p:cNvSpPr/>
          <p:nvPr/>
        </p:nvSpPr>
        <p:spPr>
          <a:xfrm>
            <a:off x="3081528" y="3127248"/>
            <a:ext cx="237744" cy="237744"/>
          </a:xfrm>
          <a:prstGeom prst="ellipse">
            <a:avLst/>
          </a:prstGeom>
          <a:solidFill>
            <a:srgbClr val="3B82C4"/>
          </a:solidFill>
          <a:ln w="12700">
            <a:solidFill>
              <a:srgbClr val="3B82C4"/>
            </a:solidFill>
            <a:prstDash val="solid"/>
          </a:ln>
        </p:spPr>
      </p:sp>
      <p:sp>
        <p:nvSpPr>
          <p:cNvPr id="20" name="Text 18"/>
          <p:cNvSpPr/>
          <p:nvPr/>
        </p:nvSpPr>
        <p:spPr>
          <a:xfrm>
            <a:off x="3364992" y="3136392"/>
            <a:ext cx="1005840" cy="320040"/>
          </a:xfrm>
          <a:prstGeom prst="rect">
            <a:avLst/>
          </a:prstGeom>
          <a:noFill/>
          <a:ln/>
        </p:spPr>
        <p:txBody>
          <a:bodyPr wrap="square" lIns="0" tIns="0" rIns="0" bIns="0" rtlCol="0" anchor="ctr"/>
          <a:lstStyle/>
          <a:p>
            <a:pPr indent="0" marL="0">
              <a:buNone/>
            </a:pPr>
            <a:r>
              <a:rPr lang="en-US" sz="950" b="1" dirty="0">
                <a:solidFill>
                  <a:srgbClr val="3B82C4"/>
                </a:solidFill>
                <a:latin typeface="Arial" pitchFamily="34" charset="0"/>
                <a:ea typeface="Arial" pitchFamily="34" charset="-122"/>
                <a:cs typeface="Arial" pitchFamily="34" charset="-120"/>
              </a:rPr>
              <a:t>Which?</a:t>
            </a:r>
            <a:endParaRPr lang="en-US" sz="950" dirty="0"/>
          </a:p>
        </p:txBody>
      </p:sp>
      <p:sp>
        <p:nvSpPr>
          <p:cNvPr id="21" name="Shape 19"/>
          <p:cNvSpPr/>
          <p:nvPr/>
        </p:nvSpPr>
        <p:spPr>
          <a:xfrm>
            <a:off x="3721608" y="3721608"/>
            <a:ext cx="237744" cy="237744"/>
          </a:xfrm>
          <a:prstGeom prst="ellipse">
            <a:avLst/>
          </a:prstGeom>
          <a:solidFill>
            <a:srgbClr val="059669"/>
          </a:solidFill>
          <a:ln w="12700">
            <a:solidFill>
              <a:srgbClr val="059669"/>
            </a:solidFill>
            <a:prstDash val="solid"/>
          </a:ln>
        </p:spPr>
      </p:sp>
      <p:sp>
        <p:nvSpPr>
          <p:cNvPr id="22" name="Text 20"/>
          <p:cNvSpPr/>
          <p:nvPr/>
        </p:nvSpPr>
        <p:spPr>
          <a:xfrm>
            <a:off x="4005072" y="3730752"/>
            <a:ext cx="1005840" cy="320040"/>
          </a:xfrm>
          <a:prstGeom prst="rect">
            <a:avLst/>
          </a:prstGeom>
          <a:noFill/>
          <a:ln/>
        </p:spPr>
        <p:txBody>
          <a:bodyPr wrap="square" lIns="0" tIns="0" rIns="0" bIns="0" rtlCol="0" anchor="ctr"/>
          <a:lstStyle/>
          <a:p>
            <a:pPr indent="0" marL="0">
              <a:buNone/>
            </a:pPr>
            <a:r>
              <a:rPr lang="en-US" sz="950" b="1" dirty="0">
                <a:solidFill>
                  <a:srgbClr val="059669"/>
                </a:solidFill>
                <a:latin typeface="Arial" pitchFamily="34" charset="0"/>
                <a:ea typeface="Arial" pitchFamily="34" charset="-122"/>
                <a:cs typeface="Arial" pitchFamily="34" charset="-120"/>
              </a:rPr>
              <a:t>MSE</a:t>
            </a:r>
            <a:endParaRPr lang="en-US" sz="950" dirty="0"/>
          </a:p>
        </p:txBody>
      </p:sp>
      <p:sp>
        <p:nvSpPr>
          <p:cNvPr id="23" name="Shape 21"/>
          <p:cNvSpPr/>
          <p:nvPr/>
        </p:nvSpPr>
        <p:spPr>
          <a:xfrm>
            <a:off x="1892808" y="2715768"/>
            <a:ext cx="237744" cy="237744"/>
          </a:xfrm>
          <a:prstGeom prst="ellipse">
            <a:avLst/>
          </a:prstGeom>
          <a:solidFill>
            <a:srgbClr val="E11D7A"/>
          </a:solidFill>
          <a:ln w="12700">
            <a:solidFill>
              <a:srgbClr val="E11D7A"/>
            </a:solidFill>
            <a:prstDash val="solid"/>
          </a:ln>
        </p:spPr>
      </p:sp>
      <p:sp>
        <p:nvSpPr>
          <p:cNvPr id="24" name="Text 22"/>
          <p:cNvSpPr/>
          <p:nvPr/>
        </p:nvSpPr>
        <p:spPr>
          <a:xfrm>
            <a:off x="2176272" y="2724912"/>
            <a:ext cx="1005840" cy="320040"/>
          </a:xfrm>
          <a:prstGeom prst="rect">
            <a:avLst/>
          </a:prstGeom>
          <a:noFill/>
          <a:ln/>
        </p:spPr>
        <p:txBody>
          <a:bodyPr wrap="square" lIns="0" tIns="0" rIns="0" bIns="0" rtlCol="0" anchor="ctr"/>
          <a:lstStyle/>
          <a:p>
            <a:pPr indent="0" marL="0">
              <a:buNone/>
            </a:pPr>
            <a:r>
              <a:rPr lang="en-US" sz="950" b="1" dirty="0">
                <a:solidFill>
                  <a:srgbClr val="E11D7A"/>
                </a:solidFill>
                <a:latin typeface="Arial" pitchFamily="34" charset="0"/>
                <a:ea typeface="Arial" pitchFamily="34" charset="-122"/>
                <a:cs typeface="Arial" pitchFamily="34" charset="-120"/>
              </a:rPr>
              <a:t>Habito</a:t>
            </a:r>
            <a:endParaRPr lang="en-US" sz="950" dirty="0"/>
          </a:p>
        </p:txBody>
      </p:sp>
      <p:sp>
        <p:nvSpPr>
          <p:cNvPr id="25" name="Shape 23"/>
          <p:cNvSpPr/>
          <p:nvPr/>
        </p:nvSpPr>
        <p:spPr>
          <a:xfrm>
            <a:off x="4206240" y="1417320"/>
            <a:ext cx="365760" cy="365760"/>
          </a:xfrm>
          <a:prstGeom prst="ellipse">
            <a:avLst/>
          </a:prstGeom>
          <a:solidFill>
            <a:srgbClr val="1A56A0"/>
          </a:solidFill>
          <a:ln w="12700">
            <a:solidFill>
              <a:srgbClr val="1A56A0"/>
            </a:solidFill>
            <a:prstDash val="solid"/>
          </a:ln>
        </p:spPr>
      </p:sp>
      <p:sp>
        <p:nvSpPr>
          <p:cNvPr id="26" name="Text 24"/>
          <p:cNvSpPr/>
          <p:nvPr/>
        </p:nvSpPr>
        <p:spPr>
          <a:xfrm>
            <a:off x="4663440" y="1481328"/>
            <a:ext cx="960120" cy="320040"/>
          </a:xfrm>
          <a:prstGeom prst="rect">
            <a:avLst/>
          </a:prstGeom>
          <a:noFill/>
          <a:ln/>
        </p:spPr>
        <p:txBody>
          <a:bodyPr wrap="square" lIns="0" tIns="0" rIns="0" bIns="0" rtlCol="0" anchor="ctr"/>
          <a:lstStyle/>
          <a:p>
            <a:pPr indent="0" marL="0">
              <a:buNone/>
            </a:pPr>
            <a:r>
              <a:rPr lang="en-US" sz="1100" b="1" dirty="0">
                <a:solidFill>
                  <a:srgbClr val="1A56A0"/>
                </a:solidFill>
                <a:latin typeface="Arial" pitchFamily="34" charset="0"/>
                <a:ea typeface="Arial" pitchFamily="34" charset="-122"/>
                <a:cs typeface="Arial" pitchFamily="34" charset="-120"/>
              </a:rPr>
              <a:t>HomeReady</a:t>
            </a:r>
            <a:endParaRPr lang="en-US" sz="1100" dirty="0"/>
          </a:p>
        </p:txBody>
      </p:sp>
      <p:sp>
        <p:nvSpPr>
          <p:cNvPr id="27" name="Shape 25"/>
          <p:cNvSpPr/>
          <p:nvPr/>
        </p:nvSpPr>
        <p:spPr>
          <a:xfrm>
            <a:off x="5943600" y="1188720"/>
            <a:ext cx="2834640" cy="3657600"/>
          </a:xfrm>
          <a:prstGeom prst="rect">
            <a:avLst>
              <a:gd name="adj" fmla="val 2581"/>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8" name="Text 26"/>
          <p:cNvSpPr/>
          <p:nvPr/>
        </p:nvSpPr>
        <p:spPr>
          <a:xfrm>
            <a:off x="6080760" y="1353312"/>
            <a:ext cx="2560320" cy="438912"/>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HomeReady is the only product that is...</a:t>
            </a:r>
            <a:endParaRPr lang="en-US" sz="1100" dirty="0"/>
          </a:p>
        </p:txBody>
      </p:sp>
      <p:pic>
        <p:nvPicPr>
          <p:cNvPr id="29" name="Image 0" descr="preencoded.png">    </p:cNvPr>
          <p:cNvPicPr>
            <a:picLocks noChangeAspect="1"/>
          </p:cNvPicPr>
          <p:nvPr/>
        </p:nvPicPr>
        <p:blipFill>
          <a:blip r:embed="rId1"/>
          <a:stretch>
            <a:fillRect/>
          </a:stretch>
        </p:blipFill>
        <p:spPr>
          <a:xfrm>
            <a:off x="6080760" y="1911096"/>
            <a:ext cx="274320" cy="274320"/>
          </a:xfrm>
          <a:prstGeom prst="rect">
            <a:avLst/>
          </a:prstGeom>
        </p:spPr>
      </p:pic>
      <p:sp>
        <p:nvSpPr>
          <p:cNvPr id="30" name="Text 27"/>
          <p:cNvSpPr/>
          <p:nvPr/>
        </p:nvSpPr>
        <p:spPr>
          <a:xfrm>
            <a:off x="6446520" y="1874520"/>
            <a:ext cx="2194560" cy="594360"/>
          </a:xfrm>
          <a:prstGeom prst="rect">
            <a:avLst/>
          </a:prstGeom>
          <a:noFill/>
          <a:ln/>
        </p:spPr>
        <p:txBody>
          <a:bodyPr wrap="square" lIns="0" tIns="0" rIns="0" bIns="0" rtlCol="0" anchor="ctr"/>
          <a:lstStyle/>
          <a:p>
            <a:pPr indent="0" marL="0">
              <a:buNone/>
            </a:pPr>
            <a:r>
              <a:rPr lang="en-US" sz="1050" dirty="0">
                <a:solidFill>
                  <a:srgbClr val="64748B"/>
                </a:solidFill>
                <a:latin typeface="Arial" pitchFamily="34" charset="0"/>
                <a:ea typeface="Arial" pitchFamily="34" charset="-122"/>
                <a:cs typeface="Arial" pitchFamily="34" charset="-120"/>
              </a:rPr>
              <a:t>Fully buyer-aligned — no referral fees, no estate agent money</a:t>
            </a:r>
            <a:endParaRPr lang="en-US" sz="1050" dirty="0"/>
          </a:p>
        </p:txBody>
      </p:sp>
      <p:pic>
        <p:nvPicPr>
          <p:cNvPr id="31" name="Image 1" descr="preencoded.png">    </p:cNvPr>
          <p:cNvPicPr>
            <a:picLocks noChangeAspect="1"/>
          </p:cNvPicPr>
          <p:nvPr/>
        </p:nvPicPr>
        <p:blipFill>
          <a:blip r:embed="rId2"/>
          <a:stretch>
            <a:fillRect/>
          </a:stretch>
        </p:blipFill>
        <p:spPr>
          <a:xfrm>
            <a:off x="6080760" y="2660904"/>
            <a:ext cx="274320" cy="274320"/>
          </a:xfrm>
          <a:prstGeom prst="rect">
            <a:avLst/>
          </a:prstGeom>
        </p:spPr>
      </p:pic>
      <p:sp>
        <p:nvSpPr>
          <p:cNvPr id="32" name="Text 28"/>
          <p:cNvSpPr/>
          <p:nvPr/>
        </p:nvSpPr>
        <p:spPr>
          <a:xfrm>
            <a:off x="6446520" y="2624328"/>
            <a:ext cx="2194560" cy="594360"/>
          </a:xfrm>
          <a:prstGeom prst="rect">
            <a:avLst/>
          </a:prstGeom>
          <a:noFill/>
          <a:ln/>
        </p:spPr>
        <p:txBody>
          <a:bodyPr wrap="square" lIns="0" tIns="0" rIns="0" bIns="0" rtlCol="0" anchor="ctr"/>
          <a:lstStyle/>
          <a:p>
            <a:pPr indent="0" marL="0">
              <a:buNone/>
            </a:pPr>
            <a:r>
              <a:rPr lang="en-US" sz="1050" dirty="0">
                <a:solidFill>
                  <a:srgbClr val="64748B"/>
                </a:solidFill>
                <a:latin typeface="Arial" pitchFamily="34" charset="0"/>
                <a:ea typeface="Arial" pitchFamily="34" charset="-122"/>
                <a:cs typeface="Arial" pitchFamily="34" charset="-120"/>
              </a:rPr>
              <a:t>End-to-end across all 6 stages of the journey</a:t>
            </a:r>
            <a:endParaRPr lang="en-US" sz="1050" dirty="0"/>
          </a:p>
        </p:txBody>
      </p:sp>
      <p:pic>
        <p:nvPicPr>
          <p:cNvPr id="33" name="Image 2" descr="preencoded.png">    </p:cNvPr>
          <p:cNvPicPr>
            <a:picLocks noChangeAspect="1"/>
          </p:cNvPicPr>
          <p:nvPr/>
        </p:nvPicPr>
        <p:blipFill>
          <a:blip r:embed="rId3"/>
          <a:stretch>
            <a:fillRect/>
          </a:stretch>
        </p:blipFill>
        <p:spPr>
          <a:xfrm>
            <a:off x="6080760" y="3410712"/>
            <a:ext cx="274320" cy="274320"/>
          </a:xfrm>
          <a:prstGeom prst="rect">
            <a:avLst/>
          </a:prstGeom>
        </p:spPr>
      </p:pic>
      <p:sp>
        <p:nvSpPr>
          <p:cNvPr id="34" name="Text 29"/>
          <p:cNvSpPr/>
          <p:nvPr/>
        </p:nvSpPr>
        <p:spPr>
          <a:xfrm>
            <a:off x="6446520" y="3374136"/>
            <a:ext cx="2194560" cy="594360"/>
          </a:xfrm>
          <a:prstGeom prst="rect">
            <a:avLst/>
          </a:prstGeom>
          <a:noFill/>
          <a:ln/>
        </p:spPr>
        <p:txBody>
          <a:bodyPr wrap="square" lIns="0" tIns="0" rIns="0" bIns="0" rtlCol="0" anchor="ctr"/>
          <a:lstStyle/>
          <a:p>
            <a:pPr indent="0" marL="0">
              <a:buNone/>
            </a:pPr>
            <a:r>
              <a:rPr lang="en-US" sz="1050" dirty="0">
                <a:solidFill>
                  <a:srgbClr val="64748B"/>
                </a:solidFill>
                <a:latin typeface="Arial" pitchFamily="34" charset="0"/>
                <a:ea typeface="Arial" pitchFamily="34" charset="-122"/>
                <a:cs typeface="Arial" pitchFamily="34" charset="-120"/>
              </a:rPr>
              <a:t>AI-native — not a directory with a chatbot bolted on</a:t>
            </a:r>
            <a:endParaRPr lang="en-US" sz="1050" dirty="0"/>
          </a:p>
        </p:txBody>
      </p:sp>
      <p:pic>
        <p:nvPicPr>
          <p:cNvPr id="35" name="Image 3" descr="preencoded.png">    </p:cNvPr>
          <p:cNvPicPr>
            <a:picLocks noChangeAspect="1"/>
          </p:cNvPicPr>
          <p:nvPr/>
        </p:nvPicPr>
        <p:blipFill>
          <a:blip r:embed="rId4"/>
          <a:stretch>
            <a:fillRect/>
          </a:stretch>
        </p:blipFill>
        <p:spPr>
          <a:xfrm>
            <a:off x="6080760" y="4160520"/>
            <a:ext cx="274320" cy="274320"/>
          </a:xfrm>
          <a:prstGeom prst="rect">
            <a:avLst/>
          </a:prstGeom>
        </p:spPr>
      </p:pic>
      <p:sp>
        <p:nvSpPr>
          <p:cNvPr id="36" name="Text 30"/>
          <p:cNvSpPr/>
          <p:nvPr/>
        </p:nvSpPr>
        <p:spPr>
          <a:xfrm>
            <a:off x="6446520" y="4123944"/>
            <a:ext cx="2194560" cy="594360"/>
          </a:xfrm>
          <a:prstGeom prst="rect">
            <a:avLst/>
          </a:prstGeom>
          <a:noFill/>
          <a:ln/>
        </p:spPr>
        <p:txBody>
          <a:bodyPr wrap="square" lIns="0" tIns="0" rIns="0" bIns="0" rtlCol="0" anchor="ctr"/>
          <a:lstStyle/>
          <a:p>
            <a:pPr indent="0" marL="0">
              <a:buNone/>
            </a:pPr>
            <a:r>
              <a:rPr lang="en-US" sz="1050" dirty="0">
                <a:solidFill>
                  <a:srgbClr val="64748B"/>
                </a:solidFill>
                <a:latin typeface="Arial" pitchFamily="34" charset="0"/>
                <a:ea typeface="Arial" pitchFamily="34" charset="-122"/>
                <a:cs typeface="Arial" pitchFamily="34" charset="-120"/>
              </a:rPr>
              <a:t>Context-aware — knows your specific deal, stage, and documents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365760" y="201168"/>
            <a:ext cx="978408"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978408"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METRICS</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12</a:t>
            </a:r>
            <a:endParaRPr lang="en-US" sz="900" dirty="0"/>
          </a:p>
        </p:txBody>
      </p:sp>
      <p:sp>
        <p:nvSpPr>
          <p:cNvPr id="5" name="Text 3"/>
          <p:cNvSpPr/>
          <p:nvPr/>
        </p:nvSpPr>
        <p:spPr>
          <a:xfrm>
            <a:off x="457200" y="502920"/>
            <a:ext cx="8229600" cy="594360"/>
          </a:xfrm>
          <a:prstGeom prst="rect">
            <a:avLst/>
          </a:prstGeom>
          <a:noFill/>
          <a:ln/>
        </p:spPr>
        <p:txBody>
          <a:bodyPr wrap="square" lIns="0" tIns="0" rIns="0" bIns="0" rtlCol="0" anchor="ctr"/>
          <a:lstStyle/>
          <a:p>
            <a:pPr indent="0" marL="0">
              <a:buNone/>
            </a:pPr>
            <a:r>
              <a:rPr lang="en-US" sz="3000" b="1" dirty="0">
                <a:solidFill>
                  <a:srgbClr val="0B1F4B"/>
                </a:solidFill>
                <a:latin typeface="Cambria" pitchFamily="34" charset="0"/>
                <a:ea typeface="Cambria" pitchFamily="34" charset="-122"/>
                <a:cs typeface="Cambria" pitchFamily="34" charset="-120"/>
              </a:rPr>
              <a:t>How we measure what matters</a:t>
            </a:r>
            <a:endParaRPr lang="en-US" sz="3000" dirty="0"/>
          </a:p>
        </p:txBody>
      </p:sp>
      <p:sp>
        <p:nvSpPr>
          <p:cNvPr id="6" name="Text 4"/>
          <p:cNvSpPr/>
          <p:nvPr/>
        </p:nvSpPr>
        <p:spPr>
          <a:xfrm>
            <a:off x="365760" y="1188720"/>
            <a:ext cx="8412480" cy="384048"/>
          </a:xfrm>
          <a:prstGeom prst="rect">
            <a:avLst/>
          </a:prstGeom>
          <a:noFill/>
          <a:ln/>
        </p:spPr>
        <p:txBody>
          <a:bodyPr wrap="square" lIns="0" tIns="0" rIns="0" bIns="0" rtlCol="0" anchor="ctr"/>
          <a:lstStyle/>
          <a:p>
            <a:pPr indent="0" marL="0">
              <a:buNone/>
            </a:pPr>
            <a:r>
              <a:rPr lang="en-US" sz="1200" b="1" dirty="0">
                <a:solidFill>
                  <a:srgbClr val="1A56A0"/>
                </a:solidFill>
                <a:latin typeface="Arial" pitchFamily="34" charset="0"/>
                <a:ea typeface="Arial" pitchFamily="34" charset="-122"/>
                <a:cs typeface="Arial" pitchFamily="34" charset="-120"/>
              </a:rPr>
              <a:t>★  North Star: Milestone Completion Rate — % of users who engage at each relevant journey stage</a:t>
            </a:r>
            <a:endParaRPr lang="en-US" sz="1200" dirty="0"/>
          </a:p>
        </p:txBody>
      </p:sp>
      <p:sp>
        <p:nvSpPr>
          <p:cNvPr id="7" name="Text 5"/>
          <p:cNvSpPr/>
          <p:nvPr/>
        </p:nvSpPr>
        <p:spPr>
          <a:xfrm>
            <a:off x="365760" y="1572768"/>
            <a:ext cx="8412480" cy="274320"/>
          </a:xfrm>
          <a:prstGeom prst="rect">
            <a:avLst/>
          </a:prstGeom>
          <a:noFill/>
          <a:ln/>
        </p:spPr>
        <p:txBody>
          <a:bodyPr wrap="square" lIns="0" tIns="0" rIns="0" bIns="0" rtlCol="0" anchor="ctr"/>
          <a:lstStyle/>
          <a:p>
            <a:pPr indent="0" marL="0">
              <a:buNone/>
            </a:pPr>
            <a:r>
              <a:rPr lang="en-US" sz="1000" dirty="0">
                <a:solidFill>
                  <a:srgbClr val="64748B"/>
                </a:solidFill>
                <a:latin typeface="Arial" pitchFamily="34" charset="0"/>
                <a:ea typeface="Arial" pitchFamily="34" charset="-122"/>
                <a:cs typeface="Arial" pitchFamily="34" charset="-120"/>
              </a:rPr>
              <a:t>Target: 65% of active users complete 4+ of their applicable milestones  ·  Why: direct evidence the product is present and useful when it counts</a:t>
            </a:r>
            <a:endParaRPr lang="en-US" sz="1000" dirty="0"/>
          </a:p>
        </p:txBody>
      </p:sp>
      <p:sp>
        <p:nvSpPr>
          <p:cNvPr id="8" name="Shape 6"/>
          <p:cNvSpPr/>
          <p:nvPr/>
        </p:nvSpPr>
        <p:spPr>
          <a:xfrm>
            <a:off x="365760" y="1965960"/>
            <a:ext cx="4114800" cy="347472"/>
          </a:xfrm>
          <a:prstGeom prst="roundRect">
            <a:avLst>
              <a:gd name="adj" fmla="val 15789"/>
            </a:avLst>
          </a:prstGeom>
          <a:solidFill>
            <a:srgbClr val="1A56A0"/>
          </a:solidFill>
          <a:ln w="12700">
            <a:solidFill>
              <a:srgbClr val="1A56A0"/>
            </a:solidFill>
            <a:prstDash val="solid"/>
          </a:ln>
        </p:spPr>
      </p:sp>
      <p:sp>
        <p:nvSpPr>
          <p:cNvPr id="9" name="Text 7"/>
          <p:cNvSpPr/>
          <p:nvPr/>
        </p:nvSpPr>
        <p:spPr>
          <a:xfrm>
            <a:off x="365760" y="1965960"/>
            <a:ext cx="4114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Leading Indicators</a:t>
            </a:r>
            <a:endParaRPr lang="en-US" sz="1200" dirty="0"/>
          </a:p>
        </p:txBody>
      </p:sp>
      <p:sp>
        <p:nvSpPr>
          <p:cNvPr id="10" name="Shape 8"/>
          <p:cNvSpPr/>
          <p:nvPr/>
        </p:nvSpPr>
        <p:spPr>
          <a:xfrm>
            <a:off x="365760" y="2423160"/>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02920" y="2487168"/>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Time to first action</a:t>
            </a:r>
            <a:endParaRPr lang="en-US" sz="1100" dirty="0"/>
          </a:p>
        </p:txBody>
      </p:sp>
      <p:sp>
        <p:nvSpPr>
          <p:cNvPr id="12" name="Text 10"/>
          <p:cNvSpPr/>
          <p:nvPr/>
        </p:nvSpPr>
        <p:spPr>
          <a:xfrm>
            <a:off x="502920" y="2724912"/>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Activation speed</a:t>
            </a:r>
            <a:endParaRPr lang="en-US" sz="900" dirty="0"/>
          </a:p>
        </p:txBody>
      </p:sp>
      <p:sp>
        <p:nvSpPr>
          <p:cNvPr id="13" name="Shape 11"/>
          <p:cNvSpPr/>
          <p:nvPr/>
        </p:nvSpPr>
        <p:spPr>
          <a:xfrm>
            <a:off x="2834640" y="2551176"/>
            <a:ext cx="1508760" cy="292608"/>
          </a:xfrm>
          <a:prstGeom prst="roundRect">
            <a:avLst>
              <a:gd name="adj" fmla="val 15625"/>
            </a:avLst>
          </a:prstGeom>
          <a:solidFill>
            <a:srgbClr val="D6E8F7"/>
          </a:solidFill>
          <a:ln w="12700">
            <a:solidFill>
              <a:srgbClr val="D6E8F7"/>
            </a:solidFill>
            <a:prstDash val="solid"/>
          </a:ln>
        </p:spPr>
      </p:sp>
      <p:sp>
        <p:nvSpPr>
          <p:cNvPr id="14" name="Text 12"/>
          <p:cNvSpPr/>
          <p:nvPr/>
        </p:nvSpPr>
        <p:spPr>
          <a:xfrm>
            <a:off x="2834640" y="2551176"/>
            <a:ext cx="150876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&lt; 10 min from signup</a:t>
            </a:r>
            <a:endParaRPr lang="en-US" sz="900" dirty="0"/>
          </a:p>
        </p:txBody>
      </p:sp>
      <p:sp>
        <p:nvSpPr>
          <p:cNvPr id="15" name="Shape 13"/>
          <p:cNvSpPr/>
          <p:nvPr/>
        </p:nvSpPr>
        <p:spPr>
          <a:xfrm>
            <a:off x="365760" y="3090672"/>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502920" y="3154680"/>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Document upload rate</a:t>
            </a:r>
            <a:endParaRPr lang="en-US" sz="1100" dirty="0"/>
          </a:p>
        </p:txBody>
      </p:sp>
      <p:sp>
        <p:nvSpPr>
          <p:cNvPr id="17" name="Text 15"/>
          <p:cNvSpPr/>
          <p:nvPr/>
        </p:nvSpPr>
        <p:spPr>
          <a:xfrm>
            <a:off x="502920" y="3392424"/>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Core value delivery</a:t>
            </a:r>
            <a:endParaRPr lang="en-US" sz="900" dirty="0"/>
          </a:p>
        </p:txBody>
      </p:sp>
      <p:sp>
        <p:nvSpPr>
          <p:cNvPr id="18" name="Shape 16"/>
          <p:cNvSpPr/>
          <p:nvPr/>
        </p:nvSpPr>
        <p:spPr>
          <a:xfrm>
            <a:off x="2834640" y="3218688"/>
            <a:ext cx="1508760" cy="292608"/>
          </a:xfrm>
          <a:prstGeom prst="roundRect">
            <a:avLst>
              <a:gd name="adj" fmla="val 15625"/>
            </a:avLst>
          </a:prstGeom>
          <a:solidFill>
            <a:srgbClr val="D6E8F7"/>
          </a:solidFill>
          <a:ln w="12700">
            <a:solidFill>
              <a:srgbClr val="D6E8F7"/>
            </a:solidFill>
            <a:prstDash val="solid"/>
          </a:ln>
        </p:spPr>
      </p:sp>
      <p:sp>
        <p:nvSpPr>
          <p:cNvPr id="19" name="Text 17"/>
          <p:cNvSpPr/>
          <p:nvPr/>
        </p:nvSpPr>
        <p:spPr>
          <a:xfrm>
            <a:off x="2834640" y="3218688"/>
            <a:ext cx="150876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&gt; 60% at Stage 4</a:t>
            </a:r>
            <a:endParaRPr lang="en-US" sz="900" dirty="0"/>
          </a:p>
        </p:txBody>
      </p:sp>
      <p:sp>
        <p:nvSpPr>
          <p:cNvPr id="20" name="Shape 18"/>
          <p:cNvSpPr/>
          <p:nvPr/>
        </p:nvSpPr>
        <p:spPr>
          <a:xfrm>
            <a:off x="365760" y="3758184"/>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502920" y="3822192"/>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Broker referral %</a:t>
            </a:r>
            <a:endParaRPr lang="en-US" sz="1100" dirty="0"/>
          </a:p>
        </p:txBody>
      </p:sp>
      <p:sp>
        <p:nvSpPr>
          <p:cNvPr id="22" name="Text 20"/>
          <p:cNvSpPr/>
          <p:nvPr/>
        </p:nvSpPr>
        <p:spPr>
          <a:xfrm>
            <a:off x="502920" y="405993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B2B2C health</a:t>
            </a:r>
            <a:endParaRPr lang="en-US" sz="900" dirty="0"/>
          </a:p>
        </p:txBody>
      </p:sp>
      <p:sp>
        <p:nvSpPr>
          <p:cNvPr id="23" name="Shape 21"/>
          <p:cNvSpPr/>
          <p:nvPr/>
        </p:nvSpPr>
        <p:spPr>
          <a:xfrm>
            <a:off x="2834640" y="3886200"/>
            <a:ext cx="1508760" cy="292608"/>
          </a:xfrm>
          <a:prstGeom prst="roundRect">
            <a:avLst>
              <a:gd name="adj" fmla="val 15625"/>
            </a:avLst>
          </a:prstGeom>
          <a:solidFill>
            <a:srgbClr val="D6E8F7"/>
          </a:solidFill>
          <a:ln w="12700">
            <a:solidFill>
              <a:srgbClr val="D6E8F7"/>
            </a:solidFill>
            <a:prstDash val="solid"/>
          </a:ln>
        </p:spPr>
      </p:sp>
      <p:sp>
        <p:nvSpPr>
          <p:cNvPr id="24" name="Text 22"/>
          <p:cNvSpPr/>
          <p:nvPr/>
        </p:nvSpPr>
        <p:spPr>
          <a:xfrm>
            <a:off x="2834640" y="3886200"/>
            <a:ext cx="150876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&gt; 30% of signups</a:t>
            </a:r>
            <a:endParaRPr lang="en-US" sz="900" dirty="0"/>
          </a:p>
        </p:txBody>
      </p:sp>
      <p:sp>
        <p:nvSpPr>
          <p:cNvPr id="25" name="Shape 23"/>
          <p:cNvSpPr/>
          <p:nvPr/>
        </p:nvSpPr>
        <p:spPr>
          <a:xfrm>
            <a:off x="365760" y="4425696"/>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502920" y="4489704"/>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Feature usage by stage</a:t>
            </a:r>
            <a:endParaRPr lang="en-US" sz="1100" dirty="0"/>
          </a:p>
        </p:txBody>
      </p:sp>
      <p:sp>
        <p:nvSpPr>
          <p:cNvPr id="27" name="Text 25"/>
          <p:cNvSpPr/>
          <p:nvPr/>
        </p:nvSpPr>
        <p:spPr>
          <a:xfrm>
            <a:off x="502920" y="4727448"/>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Product breadth</a:t>
            </a:r>
            <a:endParaRPr lang="en-US" sz="900" dirty="0"/>
          </a:p>
        </p:txBody>
      </p:sp>
      <p:sp>
        <p:nvSpPr>
          <p:cNvPr id="28" name="Shape 26"/>
          <p:cNvSpPr/>
          <p:nvPr/>
        </p:nvSpPr>
        <p:spPr>
          <a:xfrm>
            <a:off x="2834640" y="4553712"/>
            <a:ext cx="1508760" cy="292608"/>
          </a:xfrm>
          <a:prstGeom prst="roundRect">
            <a:avLst>
              <a:gd name="adj" fmla="val 15625"/>
            </a:avLst>
          </a:prstGeom>
          <a:solidFill>
            <a:srgbClr val="D6E8F7"/>
          </a:solidFill>
          <a:ln w="12700">
            <a:solidFill>
              <a:srgbClr val="D6E8F7"/>
            </a:solidFill>
            <a:prstDash val="solid"/>
          </a:ln>
        </p:spPr>
      </p:sp>
      <p:sp>
        <p:nvSpPr>
          <p:cNvPr id="29" name="Text 27"/>
          <p:cNvSpPr/>
          <p:nvPr/>
        </p:nvSpPr>
        <p:spPr>
          <a:xfrm>
            <a:off x="2834640" y="4553712"/>
            <a:ext cx="1508760" cy="292608"/>
          </a:xfrm>
          <a:prstGeom prst="rect">
            <a:avLst/>
          </a:prstGeom>
          <a:noFill/>
          <a:ln/>
        </p:spPr>
        <p:txBody>
          <a:bodyPr wrap="square" lIns="0" tIns="0" rIns="0" bIns="0" rtlCol="0" anchor="ctr"/>
          <a:lstStyle/>
          <a:p>
            <a:pPr algn="ctr" indent="0" marL="0">
              <a:buNone/>
            </a:pPr>
            <a:r>
              <a:rPr lang="en-US" sz="900" b="1" dirty="0">
                <a:solidFill>
                  <a:srgbClr val="1A56A0"/>
                </a:solidFill>
                <a:latin typeface="Arial" pitchFamily="34" charset="0"/>
                <a:ea typeface="Arial" pitchFamily="34" charset="-122"/>
                <a:cs typeface="Arial" pitchFamily="34" charset="-120"/>
              </a:rPr>
              <a:t>Balanced spread</a:t>
            </a:r>
            <a:endParaRPr lang="en-US" sz="900" dirty="0"/>
          </a:p>
        </p:txBody>
      </p:sp>
      <p:sp>
        <p:nvSpPr>
          <p:cNvPr id="30" name="Shape 28"/>
          <p:cNvSpPr/>
          <p:nvPr/>
        </p:nvSpPr>
        <p:spPr>
          <a:xfrm>
            <a:off x="4846320" y="1965960"/>
            <a:ext cx="4114800" cy="347472"/>
          </a:xfrm>
          <a:prstGeom prst="roundRect">
            <a:avLst>
              <a:gd name="adj" fmla="val 15789"/>
            </a:avLst>
          </a:prstGeom>
          <a:solidFill>
            <a:srgbClr val="059669"/>
          </a:solidFill>
          <a:ln w="12700">
            <a:solidFill>
              <a:srgbClr val="059669"/>
            </a:solidFill>
            <a:prstDash val="solid"/>
          </a:ln>
        </p:spPr>
      </p:sp>
      <p:sp>
        <p:nvSpPr>
          <p:cNvPr id="31" name="Text 29"/>
          <p:cNvSpPr/>
          <p:nvPr/>
        </p:nvSpPr>
        <p:spPr>
          <a:xfrm>
            <a:off x="4846320" y="1965960"/>
            <a:ext cx="4114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Lagging Indicators</a:t>
            </a:r>
            <a:endParaRPr lang="en-US" sz="1200" dirty="0"/>
          </a:p>
        </p:txBody>
      </p:sp>
      <p:sp>
        <p:nvSpPr>
          <p:cNvPr id="32" name="Shape 30"/>
          <p:cNvSpPr/>
          <p:nvPr/>
        </p:nvSpPr>
        <p:spPr>
          <a:xfrm>
            <a:off x="4846320" y="2423160"/>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4983480" y="2487168"/>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30-day retention</a:t>
            </a:r>
            <a:endParaRPr lang="en-US" sz="1100" dirty="0"/>
          </a:p>
        </p:txBody>
      </p:sp>
      <p:sp>
        <p:nvSpPr>
          <p:cNvPr id="34" name="Text 32"/>
          <p:cNvSpPr/>
          <p:nvPr/>
        </p:nvSpPr>
        <p:spPr>
          <a:xfrm>
            <a:off x="4983480" y="2724912"/>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Journey stickiness</a:t>
            </a:r>
            <a:endParaRPr lang="en-US" sz="900" dirty="0"/>
          </a:p>
        </p:txBody>
      </p:sp>
      <p:sp>
        <p:nvSpPr>
          <p:cNvPr id="35" name="Shape 33"/>
          <p:cNvSpPr/>
          <p:nvPr/>
        </p:nvSpPr>
        <p:spPr>
          <a:xfrm>
            <a:off x="7315200" y="2551176"/>
            <a:ext cx="1508760" cy="292608"/>
          </a:xfrm>
          <a:prstGeom prst="roundRect">
            <a:avLst>
              <a:gd name="adj" fmla="val 15625"/>
            </a:avLst>
          </a:prstGeom>
          <a:solidFill>
            <a:srgbClr val="D1FAE5"/>
          </a:solidFill>
          <a:ln w="12700">
            <a:solidFill>
              <a:srgbClr val="D1FAE5"/>
            </a:solidFill>
            <a:prstDash val="solid"/>
          </a:ln>
        </p:spPr>
      </p:sp>
      <p:sp>
        <p:nvSpPr>
          <p:cNvPr id="36" name="Text 34"/>
          <p:cNvSpPr/>
          <p:nvPr/>
        </p:nvSpPr>
        <p:spPr>
          <a:xfrm>
            <a:off x="7315200" y="2551176"/>
            <a:ext cx="1508760" cy="292608"/>
          </a:xfrm>
          <a:prstGeom prst="rect">
            <a:avLst/>
          </a:prstGeom>
          <a:noFill/>
          <a:ln/>
        </p:spPr>
        <p:txBody>
          <a:bodyPr wrap="square" lIns="0" tIns="0" rIns="0" bIns="0"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&gt; 55% by cohort</a:t>
            </a:r>
            <a:endParaRPr lang="en-US" sz="900" dirty="0"/>
          </a:p>
        </p:txBody>
      </p:sp>
      <p:sp>
        <p:nvSpPr>
          <p:cNvPr id="37" name="Shape 35"/>
          <p:cNvSpPr/>
          <p:nvPr/>
        </p:nvSpPr>
        <p:spPr>
          <a:xfrm>
            <a:off x="4846320" y="3090672"/>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38" name="Text 36"/>
          <p:cNvSpPr/>
          <p:nvPr/>
        </p:nvSpPr>
        <p:spPr>
          <a:xfrm>
            <a:off x="4983480" y="3154680"/>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NPS at exchange</a:t>
            </a:r>
            <a:endParaRPr lang="en-US" sz="1100" dirty="0"/>
          </a:p>
        </p:txBody>
      </p:sp>
      <p:sp>
        <p:nvSpPr>
          <p:cNvPr id="39" name="Text 37"/>
          <p:cNvSpPr/>
          <p:nvPr/>
        </p:nvSpPr>
        <p:spPr>
          <a:xfrm>
            <a:off x="4983480" y="3392424"/>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Emotional resonance</a:t>
            </a:r>
            <a:endParaRPr lang="en-US" sz="900" dirty="0"/>
          </a:p>
        </p:txBody>
      </p:sp>
      <p:sp>
        <p:nvSpPr>
          <p:cNvPr id="40" name="Shape 38"/>
          <p:cNvSpPr/>
          <p:nvPr/>
        </p:nvSpPr>
        <p:spPr>
          <a:xfrm>
            <a:off x="7315200" y="3218688"/>
            <a:ext cx="1508760" cy="292608"/>
          </a:xfrm>
          <a:prstGeom prst="roundRect">
            <a:avLst>
              <a:gd name="adj" fmla="val 15625"/>
            </a:avLst>
          </a:prstGeom>
          <a:solidFill>
            <a:srgbClr val="D1FAE5"/>
          </a:solidFill>
          <a:ln w="12700">
            <a:solidFill>
              <a:srgbClr val="D1FAE5"/>
            </a:solidFill>
            <a:prstDash val="solid"/>
          </a:ln>
        </p:spPr>
      </p:sp>
      <p:sp>
        <p:nvSpPr>
          <p:cNvPr id="41" name="Text 39"/>
          <p:cNvSpPr/>
          <p:nvPr/>
        </p:nvSpPr>
        <p:spPr>
          <a:xfrm>
            <a:off x="7315200" y="3218688"/>
            <a:ext cx="1508760" cy="292608"/>
          </a:xfrm>
          <a:prstGeom prst="rect">
            <a:avLst/>
          </a:prstGeom>
          <a:noFill/>
          <a:ln/>
        </p:spPr>
        <p:txBody>
          <a:bodyPr wrap="square" lIns="0" tIns="0" rIns="0" bIns="0"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&gt; 60</a:t>
            </a:r>
            <a:endParaRPr lang="en-US" sz="900" dirty="0"/>
          </a:p>
        </p:txBody>
      </p:sp>
      <p:sp>
        <p:nvSpPr>
          <p:cNvPr id="42" name="Shape 40"/>
          <p:cNvSpPr/>
          <p:nvPr/>
        </p:nvSpPr>
        <p:spPr>
          <a:xfrm>
            <a:off x="4846320" y="3758184"/>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3" name="Text 41"/>
          <p:cNvSpPr/>
          <p:nvPr/>
        </p:nvSpPr>
        <p:spPr>
          <a:xfrm>
            <a:off x="4983480" y="3822192"/>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Referral rate</a:t>
            </a:r>
            <a:endParaRPr lang="en-US" sz="1100" dirty="0"/>
          </a:p>
        </p:txBody>
      </p:sp>
      <p:sp>
        <p:nvSpPr>
          <p:cNvPr id="44" name="Text 42"/>
          <p:cNvSpPr/>
          <p:nvPr/>
        </p:nvSpPr>
        <p:spPr>
          <a:xfrm>
            <a:off x="4983480" y="4059936"/>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Word-of-mouth flywheel</a:t>
            </a:r>
            <a:endParaRPr lang="en-US" sz="900" dirty="0"/>
          </a:p>
        </p:txBody>
      </p:sp>
      <p:sp>
        <p:nvSpPr>
          <p:cNvPr id="45" name="Shape 43"/>
          <p:cNvSpPr/>
          <p:nvPr/>
        </p:nvSpPr>
        <p:spPr>
          <a:xfrm>
            <a:off x="7315200" y="3886200"/>
            <a:ext cx="1508760" cy="292608"/>
          </a:xfrm>
          <a:prstGeom prst="roundRect">
            <a:avLst>
              <a:gd name="adj" fmla="val 15625"/>
            </a:avLst>
          </a:prstGeom>
          <a:solidFill>
            <a:srgbClr val="D1FAE5"/>
          </a:solidFill>
          <a:ln w="12700">
            <a:solidFill>
              <a:srgbClr val="D1FAE5"/>
            </a:solidFill>
            <a:prstDash val="solid"/>
          </a:ln>
        </p:spPr>
      </p:sp>
      <p:sp>
        <p:nvSpPr>
          <p:cNvPr id="46" name="Text 44"/>
          <p:cNvSpPr/>
          <p:nvPr/>
        </p:nvSpPr>
        <p:spPr>
          <a:xfrm>
            <a:off x="7315200" y="3886200"/>
            <a:ext cx="1508760" cy="292608"/>
          </a:xfrm>
          <a:prstGeom prst="rect">
            <a:avLst/>
          </a:prstGeom>
          <a:noFill/>
          <a:ln/>
        </p:spPr>
        <p:txBody>
          <a:bodyPr wrap="square" lIns="0" tIns="0" rIns="0" bIns="0"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&gt; 40% of new users</a:t>
            </a:r>
            <a:endParaRPr lang="en-US" sz="900" dirty="0"/>
          </a:p>
        </p:txBody>
      </p:sp>
      <p:sp>
        <p:nvSpPr>
          <p:cNvPr id="47" name="Shape 45"/>
          <p:cNvSpPr/>
          <p:nvPr/>
        </p:nvSpPr>
        <p:spPr>
          <a:xfrm>
            <a:off x="4846320" y="4425696"/>
            <a:ext cx="4114800" cy="594360"/>
          </a:xfrm>
          <a:prstGeom prst="rect">
            <a:avLst>
              <a:gd name="adj" fmla="val 12308"/>
            </a:avLst>
          </a:prstGeom>
          <a:solidFill>
            <a:srgbClr val="FFFFFF"/>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48" name="Text 46"/>
          <p:cNvSpPr/>
          <p:nvPr/>
        </p:nvSpPr>
        <p:spPr>
          <a:xfrm>
            <a:off x="4983480" y="4489704"/>
            <a:ext cx="2286000" cy="2286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LTV : CAC</a:t>
            </a:r>
            <a:endParaRPr lang="en-US" sz="1100" dirty="0"/>
          </a:p>
        </p:txBody>
      </p:sp>
      <p:sp>
        <p:nvSpPr>
          <p:cNvPr id="49" name="Text 47"/>
          <p:cNvSpPr/>
          <p:nvPr/>
        </p:nvSpPr>
        <p:spPr>
          <a:xfrm>
            <a:off x="4983480" y="4727448"/>
            <a:ext cx="2103120" cy="201168"/>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Unit economics</a:t>
            </a:r>
            <a:endParaRPr lang="en-US" sz="900" dirty="0"/>
          </a:p>
        </p:txBody>
      </p:sp>
      <p:sp>
        <p:nvSpPr>
          <p:cNvPr id="50" name="Shape 48"/>
          <p:cNvSpPr/>
          <p:nvPr/>
        </p:nvSpPr>
        <p:spPr>
          <a:xfrm>
            <a:off x="7315200" y="4553712"/>
            <a:ext cx="1508760" cy="292608"/>
          </a:xfrm>
          <a:prstGeom prst="roundRect">
            <a:avLst>
              <a:gd name="adj" fmla="val 15625"/>
            </a:avLst>
          </a:prstGeom>
          <a:solidFill>
            <a:srgbClr val="D1FAE5"/>
          </a:solidFill>
          <a:ln w="12700">
            <a:solidFill>
              <a:srgbClr val="D1FAE5"/>
            </a:solidFill>
            <a:prstDash val="solid"/>
          </a:ln>
        </p:spPr>
      </p:sp>
      <p:sp>
        <p:nvSpPr>
          <p:cNvPr id="51" name="Text 49"/>
          <p:cNvSpPr/>
          <p:nvPr/>
        </p:nvSpPr>
        <p:spPr>
          <a:xfrm>
            <a:off x="7315200" y="4553712"/>
            <a:ext cx="1508760" cy="292608"/>
          </a:xfrm>
          <a:prstGeom prst="rect">
            <a:avLst/>
          </a:prstGeom>
          <a:noFill/>
          <a:ln/>
        </p:spPr>
        <p:txBody>
          <a:bodyPr wrap="square" lIns="0" tIns="0" rIns="0" bIns="0"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&gt; 3:1 by month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4B"/>
        </a:solidFill>
      </p:bgPr>
    </p:bg>
    <p:spTree>
      <p:nvGrpSpPr>
        <p:cNvPr id="1" name=""/>
        <p:cNvGrpSpPr/>
        <p:nvPr/>
      </p:nvGrpSpPr>
      <p:grpSpPr>
        <a:xfrm>
          <a:off x="0" y="0"/>
          <a:ext cx="0" cy="0"/>
          <a:chOff x="0" y="0"/>
          <a:chExt cx="0" cy="0"/>
        </a:xfrm>
      </p:grpSpPr>
      <p:sp>
        <p:nvSpPr>
          <p:cNvPr id="2" name="Shape 0"/>
          <p:cNvSpPr/>
          <p:nvPr/>
        </p:nvSpPr>
        <p:spPr>
          <a:xfrm>
            <a:off x="365760" y="201168"/>
            <a:ext cx="978408" cy="237744"/>
          </a:xfrm>
          <a:prstGeom prst="roundRect">
            <a:avLst>
              <a:gd name="adj" fmla="val 19231"/>
            </a:avLst>
          </a:prstGeom>
          <a:solidFill>
            <a:srgbClr val="3B82C4"/>
          </a:solidFill>
          <a:ln w="12700">
            <a:solidFill>
              <a:srgbClr val="3B82C4"/>
            </a:solidFill>
            <a:prstDash val="solid"/>
          </a:ln>
        </p:spPr>
      </p:sp>
      <p:sp>
        <p:nvSpPr>
          <p:cNvPr id="3" name="Text 1"/>
          <p:cNvSpPr/>
          <p:nvPr/>
        </p:nvSpPr>
        <p:spPr>
          <a:xfrm>
            <a:off x="365760" y="201168"/>
            <a:ext cx="978408" cy="237744"/>
          </a:xfrm>
          <a:prstGeom prst="rect">
            <a:avLst/>
          </a:prstGeom>
          <a:noFill/>
          <a:ln/>
        </p:spPr>
        <p:txBody>
          <a:bodyPr wrap="square" lIns="0" tIns="0" rIns="0" bIns="0" rtlCol="0" anchor="ctr"/>
          <a:lstStyle/>
          <a:p>
            <a:pPr algn="ctr" indent="0" marL="0">
              <a:buNone/>
            </a:pPr>
            <a:r>
              <a:rPr lang="en-US" sz="800" b="1" spc="150" kern="0" dirty="0">
                <a:solidFill>
                  <a:srgbClr val="FFFFFF"/>
                </a:solidFill>
                <a:latin typeface="Arial" pitchFamily="34" charset="0"/>
                <a:ea typeface="Arial" pitchFamily="34" charset="-122"/>
                <a:cs typeface="Arial" pitchFamily="34" charset="-120"/>
              </a:rPr>
              <a:t>THE ASK</a:t>
            </a:r>
            <a:endParaRPr lang="en-US" sz="800" dirty="0"/>
          </a:p>
        </p:txBody>
      </p:sp>
      <p:sp>
        <p:nvSpPr>
          <p:cNvPr id="4" name="Text 2"/>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12</a:t>
            </a:r>
            <a:endParaRPr lang="en-US" sz="900" dirty="0"/>
          </a:p>
        </p:txBody>
      </p:sp>
      <p:sp>
        <p:nvSpPr>
          <p:cNvPr id="5" name="Text 3"/>
          <p:cNvSpPr/>
          <p:nvPr/>
        </p:nvSpPr>
        <p:spPr>
          <a:xfrm>
            <a:off x="457200" y="548640"/>
            <a:ext cx="82296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We are raising £750K seed.</a:t>
            </a:r>
            <a:endParaRPr lang="en-US" sz="3400" dirty="0"/>
          </a:p>
        </p:txBody>
      </p:sp>
      <p:sp>
        <p:nvSpPr>
          <p:cNvPr id="6" name="Text 4"/>
          <p:cNvSpPr/>
          <p:nvPr/>
        </p:nvSpPr>
        <p:spPr>
          <a:xfrm>
            <a:off x="457200" y="1261872"/>
            <a:ext cx="8229600" cy="384048"/>
          </a:xfrm>
          <a:prstGeom prst="rect">
            <a:avLst/>
          </a:prstGeom>
          <a:noFill/>
          <a:ln/>
        </p:spPr>
        <p:txBody>
          <a:bodyPr wrap="square" lIns="0" tIns="0" rIns="0" bIns="0" rtlCol="0" anchor="ctr"/>
          <a:lstStyle/>
          <a:p>
            <a:pPr indent="0" marL="0">
              <a:buNone/>
            </a:pPr>
            <a:r>
              <a:rPr lang="en-US" sz="1500" dirty="0">
                <a:solidFill>
                  <a:srgbClr val="D6E8F7"/>
                </a:solidFill>
                <a:latin typeface="Arial" pitchFamily="34" charset="0"/>
                <a:ea typeface="Arial" pitchFamily="34" charset="-122"/>
                <a:cs typeface="Arial" pitchFamily="34" charset="-120"/>
              </a:rPr>
              <a:t>18 months of runway to prove the model before Series A.</a:t>
            </a:r>
            <a:endParaRPr lang="en-US" sz="1500" dirty="0"/>
          </a:p>
        </p:txBody>
      </p:sp>
      <p:sp>
        <p:nvSpPr>
          <p:cNvPr id="7" name="Shape 5"/>
          <p:cNvSpPr/>
          <p:nvPr/>
        </p:nvSpPr>
        <p:spPr>
          <a:xfrm>
            <a:off x="365760" y="1828800"/>
            <a:ext cx="5029200" cy="3017520"/>
          </a:xfrm>
          <a:prstGeom prst="rect">
            <a:avLst>
              <a:gd name="adj" fmla="val 2424"/>
            </a:avLst>
          </a:prstGeom>
          <a:solidFill>
            <a:srgbClr val="0F2544"/>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993392"/>
            <a:ext cx="4663440" cy="347472"/>
          </a:xfrm>
          <a:prstGeom prst="rect">
            <a:avLst/>
          </a:prstGeom>
          <a:noFill/>
          <a:ln/>
        </p:spPr>
        <p:txBody>
          <a:bodyPr wrap="square" lIns="0" tIns="0" rIns="0" bIns="0" rtlCol="0" anchor="ctr"/>
          <a:lstStyle/>
          <a:p>
            <a:pPr indent="0" marL="0">
              <a:buNone/>
            </a:pPr>
            <a:r>
              <a:rPr lang="en-US" sz="1300" b="1" dirty="0">
                <a:solidFill>
                  <a:srgbClr val="D6E8F7"/>
                </a:solidFill>
                <a:latin typeface="Arial" pitchFamily="34" charset="0"/>
                <a:ea typeface="Arial" pitchFamily="34" charset="-122"/>
                <a:cs typeface="Arial" pitchFamily="34" charset="-120"/>
              </a:rPr>
              <a:t>Round Structure</a:t>
            </a:r>
            <a:endParaRPr lang="en-US" sz="1300" dirty="0"/>
          </a:p>
        </p:txBody>
      </p:sp>
      <p:sp>
        <p:nvSpPr>
          <p:cNvPr id="9" name="Text 7"/>
          <p:cNvSpPr/>
          <p:nvPr/>
        </p:nvSpPr>
        <p:spPr>
          <a:xfrm>
            <a:off x="548640" y="2423160"/>
            <a:ext cx="2103120" cy="384048"/>
          </a:xfrm>
          <a:prstGeom prst="rect">
            <a:avLst/>
          </a:prstGeom>
          <a:noFill/>
          <a:ln/>
        </p:spPr>
        <p:txBody>
          <a:bodyPr wrap="square" lIns="0" tIns="0" rIns="0" bIns="0" rtlCol="0" anchor="ctr"/>
          <a:lstStyle/>
          <a:p>
            <a:pPr indent="0" marL="0">
              <a:buNone/>
            </a:pPr>
            <a:r>
              <a:rPr lang="en-US" sz="1100" dirty="0">
                <a:solidFill>
                  <a:srgbClr val="D6E8F7"/>
                </a:solidFill>
                <a:latin typeface="Arial" pitchFamily="34" charset="0"/>
                <a:ea typeface="Arial" pitchFamily="34" charset="-122"/>
                <a:cs typeface="Arial" pitchFamily="34" charset="-120"/>
              </a:rPr>
              <a:t>Lead investor</a:t>
            </a:r>
            <a:endParaRPr lang="en-US" sz="1100" dirty="0"/>
          </a:p>
        </p:txBody>
      </p:sp>
      <p:sp>
        <p:nvSpPr>
          <p:cNvPr id="10" name="Text 8"/>
          <p:cNvSpPr/>
          <p:nvPr/>
        </p:nvSpPr>
        <p:spPr>
          <a:xfrm>
            <a:off x="2697480" y="2423160"/>
            <a:ext cx="1554480" cy="384048"/>
          </a:xfrm>
          <a:prstGeom prst="rect">
            <a:avLst/>
          </a:prstGeom>
          <a:noFill/>
          <a:ln/>
        </p:spPr>
        <p:txBody>
          <a:bodyPr wrap="square" lIns="0" tIns="0" rIns="0" bIns="0" rtlCol="0" anchor="ctr"/>
          <a:lstStyle/>
          <a:p>
            <a:pPr indent="0" marL="0">
              <a:buNone/>
            </a:pPr>
            <a:r>
              <a:rPr lang="en-US" sz="1000" i="1" dirty="0">
                <a:solidFill>
                  <a:srgbClr val="94A3B8"/>
                </a:solidFill>
                <a:latin typeface="Arial" pitchFamily="34" charset="0"/>
                <a:ea typeface="Arial" pitchFamily="34" charset="-122"/>
                <a:cs typeface="Arial" pitchFamily="34" charset="-120"/>
              </a:rPr>
              <a:t>Proptech seed fund</a:t>
            </a:r>
            <a:endParaRPr lang="en-US" sz="1000" dirty="0"/>
          </a:p>
        </p:txBody>
      </p:sp>
      <p:sp>
        <p:nvSpPr>
          <p:cNvPr id="11" name="Text 9"/>
          <p:cNvSpPr/>
          <p:nvPr/>
        </p:nvSpPr>
        <p:spPr>
          <a:xfrm>
            <a:off x="4251960" y="2423160"/>
            <a:ext cx="1005840" cy="384048"/>
          </a:xfrm>
          <a:prstGeom prst="rect">
            <a:avLst/>
          </a:prstGeom>
          <a:noFill/>
          <a:ln/>
        </p:spPr>
        <p:txBody>
          <a:bodyPr wrap="square" lIns="0" tIns="0" rIns="0" bIns="0" rtlCol="0" anchor="ctr"/>
          <a:lstStyle/>
          <a:p>
            <a:pPr algn="r" indent="0" marL="0">
              <a:buNone/>
            </a:pPr>
            <a:r>
              <a:rPr lang="en-US" sz="1300" b="1" dirty="0">
                <a:solidFill>
                  <a:srgbClr val="F59E0B"/>
                </a:solidFill>
                <a:latin typeface="Cambria" pitchFamily="34" charset="0"/>
                <a:ea typeface="Cambria" pitchFamily="34" charset="-122"/>
                <a:cs typeface="Cambria" pitchFamily="34" charset="-120"/>
              </a:rPr>
              <a:t>£350K</a:t>
            </a:r>
            <a:endParaRPr lang="en-US" sz="1300" dirty="0"/>
          </a:p>
        </p:txBody>
      </p:sp>
      <p:sp>
        <p:nvSpPr>
          <p:cNvPr id="12" name="Text 10"/>
          <p:cNvSpPr/>
          <p:nvPr/>
        </p:nvSpPr>
        <p:spPr>
          <a:xfrm>
            <a:off x="548640" y="2990088"/>
            <a:ext cx="2103120" cy="384048"/>
          </a:xfrm>
          <a:prstGeom prst="rect">
            <a:avLst/>
          </a:prstGeom>
          <a:noFill/>
          <a:ln/>
        </p:spPr>
        <p:txBody>
          <a:bodyPr wrap="square" lIns="0" tIns="0" rIns="0" bIns="0" rtlCol="0" anchor="ctr"/>
          <a:lstStyle/>
          <a:p>
            <a:pPr indent="0" marL="0">
              <a:buNone/>
            </a:pPr>
            <a:r>
              <a:rPr lang="en-US" sz="1100" dirty="0">
                <a:solidFill>
                  <a:srgbClr val="D6E8F7"/>
                </a:solidFill>
                <a:latin typeface="Arial" pitchFamily="34" charset="0"/>
                <a:ea typeface="Arial" pitchFamily="34" charset="-122"/>
                <a:cs typeface="Arial" pitchFamily="34" charset="-120"/>
              </a:rPr>
              <a:t>Strategic angels</a:t>
            </a:r>
            <a:endParaRPr lang="en-US" sz="1100" dirty="0"/>
          </a:p>
        </p:txBody>
      </p:sp>
      <p:sp>
        <p:nvSpPr>
          <p:cNvPr id="13" name="Text 11"/>
          <p:cNvSpPr/>
          <p:nvPr/>
        </p:nvSpPr>
        <p:spPr>
          <a:xfrm>
            <a:off x="2697480" y="2990088"/>
            <a:ext cx="1554480" cy="384048"/>
          </a:xfrm>
          <a:prstGeom prst="rect">
            <a:avLst/>
          </a:prstGeom>
          <a:noFill/>
          <a:ln/>
        </p:spPr>
        <p:txBody>
          <a:bodyPr wrap="square" lIns="0" tIns="0" rIns="0" bIns="0" rtlCol="0" anchor="ctr"/>
          <a:lstStyle/>
          <a:p>
            <a:pPr indent="0" marL="0">
              <a:buNone/>
            </a:pPr>
            <a:r>
              <a:rPr lang="en-US" sz="1000" i="1" dirty="0">
                <a:solidFill>
                  <a:srgbClr val="94A3B8"/>
                </a:solidFill>
                <a:latin typeface="Arial" pitchFamily="34" charset="0"/>
                <a:ea typeface="Arial" pitchFamily="34" charset="-122"/>
                <a:cs typeface="Arial" pitchFamily="34" charset="-120"/>
              </a:rPr>
              <a:t>3–5 FS / property executives</a:t>
            </a:r>
            <a:endParaRPr lang="en-US" sz="1000" dirty="0"/>
          </a:p>
        </p:txBody>
      </p:sp>
      <p:sp>
        <p:nvSpPr>
          <p:cNvPr id="14" name="Text 12"/>
          <p:cNvSpPr/>
          <p:nvPr/>
        </p:nvSpPr>
        <p:spPr>
          <a:xfrm>
            <a:off x="4251960" y="2990088"/>
            <a:ext cx="1005840" cy="384048"/>
          </a:xfrm>
          <a:prstGeom prst="rect">
            <a:avLst/>
          </a:prstGeom>
          <a:noFill/>
          <a:ln/>
        </p:spPr>
        <p:txBody>
          <a:bodyPr wrap="square" lIns="0" tIns="0" rIns="0" bIns="0" rtlCol="0" anchor="ctr"/>
          <a:lstStyle/>
          <a:p>
            <a:pPr algn="r" indent="0" marL="0">
              <a:buNone/>
            </a:pPr>
            <a:r>
              <a:rPr lang="en-US" sz="1300" b="1" dirty="0">
                <a:solidFill>
                  <a:srgbClr val="F59E0B"/>
                </a:solidFill>
                <a:latin typeface="Cambria" pitchFamily="34" charset="0"/>
                <a:ea typeface="Cambria" pitchFamily="34" charset="-122"/>
                <a:cs typeface="Cambria" pitchFamily="34" charset="-120"/>
              </a:rPr>
              <a:t>£250K</a:t>
            </a:r>
            <a:endParaRPr lang="en-US" sz="1300" dirty="0"/>
          </a:p>
        </p:txBody>
      </p:sp>
      <p:sp>
        <p:nvSpPr>
          <p:cNvPr id="15" name="Text 13"/>
          <p:cNvSpPr/>
          <p:nvPr/>
        </p:nvSpPr>
        <p:spPr>
          <a:xfrm>
            <a:off x="548640" y="3557016"/>
            <a:ext cx="2103120" cy="384048"/>
          </a:xfrm>
          <a:prstGeom prst="rect">
            <a:avLst/>
          </a:prstGeom>
          <a:noFill/>
          <a:ln/>
        </p:spPr>
        <p:txBody>
          <a:bodyPr wrap="square" lIns="0" tIns="0" rIns="0" bIns="0" rtlCol="0" anchor="ctr"/>
          <a:lstStyle/>
          <a:p>
            <a:pPr indent="0" marL="0">
              <a:buNone/>
            </a:pPr>
            <a:r>
              <a:rPr lang="en-US" sz="1100" dirty="0">
                <a:solidFill>
                  <a:srgbClr val="D6E8F7"/>
                </a:solidFill>
                <a:latin typeface="Arial" pitchFamily="34" charset="0"/>
                <a:ea typeface="Arial" pitchFamily="34" charset="-122"/>
                <a:cs typeface="Arial" pitchFamily="34" charset="-120"/>
              </a:rPr>
              <a:t>Crowdfunding top-up</a:t>
            </a:r>
            <a:endParaRPr lang="en-US" sz="1100" dirty="0"/>
          </a:p>
        </p:txBody>
      </p:sp>
      <p:sp>
        <p:nvSpPr>
          <p:cNvPr id="16" name="Text 14"/>
          <p:cNvSpPr/>
          <p:nvPr/>
        </p:nvSpPr>
        <p:spPr>
          <a:xfrm>
            <a:off x="2697480" y="3557016"/>
            <a:ext cx="1554480" cy="384048"/>
          </a:xfrm>
          <a:prstGeom prst="rect">
            <a:avLst/>
          </a:prstGeom>
          <a:noFill/>
          <a:ln/>
        </p:spPr>
        <p:txBody>
          <a:bodyPr wrap="square" lIns="0" tIns="0" rIns="0" bIns="0" rtlCol="0" anchor="ctr"/>
          <a:lstStyle/>
          <a:p>
            <a:pPr indent="0" marL="0">
              <a:buNone/>
            </a:pPr>
            <a:r>
              <a:rPr lang="en-US" sz="1000" i="1" dirty="0">
                <a:solidFill>
                  <a:srgbClr val="94A3B8"/>
                </a:solidFill>
                <a:latin typeface="Arial" pitchFamily="34" charset="0"/>
                <a:ea typeface="Arial" pitchFamily="34" charset="-122"/>
                <a:cs typeface="Arial" pitchFamily="34" charset="-120"/>
              </a:rPr>
              <a:t>Seedrs (post-close)</a:t>
            </a:r>
            <a:endParaRPr lang="en-US" sz="1000" dirty="0"/>
          </a:p>
        </p:txBody>
      </p:sp>
      <p:sp>
        <p:nvSpPr>
          <p:cNvPr id="17" name="Text 15"/>
          <p:cNvSpPr/>
          <p:nvPr/>
        </p:nvSpPr>
        <p:spPr>
          <a:xfrm>
            <a:off x="4251960" y="3557016"/>
            <a:ext cx="1005840" cy="384048"/>
          </a:xfrm>
          <a:prstGeom prst="rect">
            <a:avLst/>
          </a:prstGeom>
          <a:noFill/>
          <a:ln/>
        </p:spPr>
        <p:txBody>
          <a:bodyPr wrap="square" lIns="0" tIns="0" rIns="0" bIns="0" rtlCol="0" anchor="ctr"/>
          <a:lstStyle/>
          <a:p>
            <a:pPr algn="r" indent="0" marL="0">
              <a:buNone/>
            </a:pPr>
            <a:r>
              <a:rPr lang="en-US" sz="1300" b="1" dirty="0">
                <a:solidFill>
                  <a:srgbClr val="F59E0B"/>
                </a:solidFill>
                <a:latin typeface="Cambria" pitchFamily="34" charset="0"/>
                <a:ea typeface="Cambria" pitchFamily="34" charset="-122"/>
                <a:cs typeface="Cambria" pitchFamily="34" charset="-120"/>
              </a:rPr>
              <a:t>£150K</a:t>
            </a:r>
            <a:endParaRPr lang="en-US" sz="1300" dirty="0"/>
          </a:p>
        </p:txBody>
      </p:sp>
      <p:sp>
        <p:nvSpPr>
          <p:cNvPr id="18" name="Shape 16"/>
          <p:cNvSpPr/>
          <p:nvPr/>
        </p:nvSpPr>
        <p:spPr>
          <a:xfrm>
            <a:off x="502920" y="4032504"/>
            <a:ext cx="4800600" cy="36576"/>
          </a:xfrm>
          <a:prstGeom prst="rect">
            <a:avLst/>
          </a:prstGeom>
          <a:solidFill>
            <a:srgbClr val="2A4A7A"/>
          </a:solidFill>
          <a:ln w="12700">
            <a:solidFill>
              <a:srgbClr val="2A4A7A"/>
            </a:solidFill>
            <a:prstDash val="solid"/>
          </a:ln>
        </p:spPr>
      </p:sp>
      <p:sp>
        <p:nvSpPr>
          <p:cNvPr id="19" name="Text 17"/>
          <p:cNvSpPr/>
          <p:nvPr/>
        </p:nvSpPr>
        <p:spPr>
          <a:xfrm>
            <a:off x="548640" y="4123944"/>
            <a:ext cx="2103120" cy="384048"/>
          </a:xfrm>
          <a:prstGeom prst="rect">
            <a:avLst/>
          </a:prstGeom>
          <a:noFill/>
          <a:ln/>
        </p:spPr>
        <p:txBody>
          <a:bodyPr wrap="square" lIns="0" tIns="0" rIns="0" bIns="0" rtlCol="0" anchor="ctr"/>
          <a:lstStyle/>
          <a:p>
            <a:pPr indent="0" marL="0">
              <a:buNone/>
            </a:pPr>
            <a:r>
              <a:rPr lang="en-US" sz="1100" dirty="0">
                <a:solidFill>
                  <a:srgbClr val="D6E8F7"/>
                </a:solidFill>
                <a:latin typeface="Arial" pitchFamily="34" charset="0"/>
                <a:ea typeface="Arial" pitchFamily="34" charset="-122"/>
                <a:cs typeface="Arial" pitchFamily="34" charset="-120"/>
              </a:rPr>
              <a:t>Pre-money valuation</a:t>
            </a:r>
            <a:endParaRPr lang="en-US" sz="1100" dirty="0"/>
          </a:p>
        </p:txBody>
      </p:sp>
      <p:sp>
        <p:nvSpPr>
          <p:cNvPr id="20" name="Text 18"/>
          <p:cNvSpPr/>
          <p:nvPr/>
        </p:nvSpPr>
        <p:spPr>
          <a:xfrm>
            <a:off x="2697480" y="4123944"/>
            <a:ext cx="1554480" cy="384048"/>
          </a:xfrm>
          <a:prstGeom prst="rect">
            <a:avLst/>
          </a:prstGeom>
          <a:noFill/>
          <a:ln/>
        </p:spPr>
        <p:txBody>
          <a:bodyPr wrap="square" lIns="0" tIns="0" rIns="0" bIns="0" rtlCol="0" anchor="ctr"/>
          <a:lstStyle/>
          <a:p>
            <a:pPr indent="0" marL="0">
              <a:buNone/>
            </a:pPr>
            <a:endParaRPr lang="en-US" sz="1000" dirty="0"/>
          </a:p>
        </p:txBody>
      </p:sp>
      <p:sp>
        <p:nvSpPr>
          <p:cNvPr id="21" name="Text 19"/>
          <p:cNvSpPr/>
          <p:nvPr/>
        </p:nvSpPr>
        <p:spPr>
          <a:xfrm>
            <a:off x="4251960" y="4123944"/>
            <a:ext cx="1005840" cy="384048"/>
          </a:xfrm>
          <a:prstGeom prst="rect">
            <a:avLst/>
          </a:prstGeom>
          <a:noFill/>
          <a:ln/>
        </p:spPr>
        <p:txBody>
          <a:bodyPr wrap="square" lIns="0" tIns="0" rIns="0" bIns="0" rtlCol="0" anchor="ctr"/>
          <a:lstStyle/>
          <a:p>
            <a:pPr algn="r" indent="0" marL="0">
              <a:buNone/>
            </a:pPr>
            <a:r>
              <a:rPr lang="en-US" sz="1300" b="1" dirty="0">
                <a:solidFill>
                  <a:srgbClr val="F59E0B"/>
                </a:solidFill>
                <a:latin typeface="Cambria" pitchFamily="34" charset="0"/>
                <a:ea typeface="Cambria" pitchFamily="34" charset="-122"/>
                <a:cs typeface="Cambria" pitchFamily="34" charset="-120"/>
              </a:rPr>
              <a:t>£4.5M</a:t>
            </a:r>
            <a:endParaRPr lang="en-US" sz="1300" dirty="0"/>
          </a:p>
        </p:txBody>
      </p:sp>
      <p:sp>
        <p:nvSpPr>
          <p:cNvPr id="22" name="Shape 20"/>
          <p:cNvSpPr/>
          <p:nvPr/>
        </p:nvSpPr>
        <p:spPr>
          <a:xfrm>
            <a:off x="5577840" y="1828800"/>
            <a:ext cx="3200400" cy="3017520"/>
          </a:xfrm>
          <a:prstGeom prst="rect">
            <a:avLst>
              <a:gd name="adj" fmla="val 2424"/>
            </a:avLst>
          </a:prstGeom>
          <a:solidFill>
            <a:srgbClr val="0F2544"/>
          </a:solidFill>
          <a:ln w="6350">
            <a:solidFill>
              <a:srgbClr val="E2E8F0"/>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5715000" y="1993392"/>
            <a:ext cx="2926080" cy="347472"/>
          </a:xfrm>
          <a:prstGeom prst="rect">
            <a:avLst/>
          </a:prstGeom>
          <a:noFill/>
          <a:ln/>
        </p:spPr>
        <p:txBody>
          <a:bodyPr wrap="square" lIns="0" tIns="0" rIns="0" bIns="0" rtlCol="0" anchor="ctr"/>
          <a:lstStyle/>
          <a:p>
            <a:pPr indent="0" marL="0">
              <a:buNone/>
            </a:pPr>
            <a:r>
              <a:rPr lang="en-US" sz="1300" b="1" dirty="0">
                <a:solidFill>
                  <a:srgbClr val="D6E8F7"/>
                </a:solidFill>
                <a:latin typeface="Arial" pitchFamily="34" charset="0"/>
                <a:ea typeface="Arial" pitchFamily="34" charset="-122"/>
                <a:cs typeface="Arial" pitchFamily="34" charset="-120"/>
              </a:rPr>
              <a:t>What this buys</a:t>
            </a:r>
            <a:endParaRPr lang="en-US" sz="1300" dirty="0"/>
          </a:p>
        </p:txBody>
      </p:sp>
      <p:pic>
        <p:nvPicPr>
          <p:cNvPr id="24" name="Image 0" descr="preencoded.png">    </p:cNvPr>
          <p:cNvPicPr>
            <a:picLocks noChangeAspect="1"/>
          </p:cNvPicPr>
          <p:nvPr/>
        </p:nvPicPr>
        <p:blipFill>
          <a:blip r:embed="rId1"/>
          <a:stretch>
            <a:fillRect/>
          </a:stretch>
        </p:blipFill>
        <p:spPr>
          <a:xfrm>
            <a:off x="5715000" y="2505456"/>
            <a:ext cx="201168" cy="201168"/>
          </a:xfrm>
          <a:prstGeom prst="rect">
            <a:avLst/>
          </a:prstGeom>
        </p:spPr>
      </p:pic>
      <p:sp>
        <p:nvSpPr>
          <p:cNvPr id="25" name="Text 22"/>
          <p:cNvSpPr/>
          <p:nvPr/>
        </p:nvSpPr>
        <p:spPr>
          <a:xfrm>
            <a:off x="5998464" y="2450592"/>
            <a:ext cx="265176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MVP to v1.1</a:t>
            </a:r>
            <a:endParaRPr lang="en-US" sz="1100" dirty="0"/>
          </a:p>
        </p:txBody>
      </p:sp>
      <p:sp>
        <p:nvSpPr>
          <p:cNvPr id="26" name="Text 23"/>
          <p:cNvSpPr/>
          <p:nvPr/>
        </p:nvSpPr>
        <p:spPr>
          <a:xfrm>
            <a:off x="5998464" y="2670048"/>
            <a:ext cx="2651760" cy="228600"/>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Full product across all 6 stages</a:t>
            </a:r>
            <a:endParaRPr lang="en-US" sz="950" dirty="0"/>
          </a:p>
        </p:txBody>
      </p:sp>
      <p:pic>
        <p:nvPicPr>
          <p:cNvPr id="27" name="Image 1" descr="preencoded.png">    </p:cNvPr>
          <p:cNvPicPr>
            <a:picLocks noChangeAspect="1"/>
          </p:cNvPicPr>
          <p:nvPr/>
        </p:nvPicPr>
        <p:blipFill>
          <a:blip r:embed="rId2"/>
          <a:stretch>
            <a:fillRect/>
          </a:stretch>
        </p:blipFill>
        <p:spPr>
          <a:xfrm>
            <a:off x="5715000" y="3072384"/>
            <a:ext cx="201168" cy="201168"/>
          </a:xfrm>
          <a:prstGeom prst="rect">
            <a:avLst/>
          </a:prstGeom>
        </p:spPr>
      </p:pic>
      <p:sp>
        <p:nvSpPr>
          <p:cNvPr id="28" name="Text 24"/>
          <p:cNvSpPr/>
          <p:nvPr/>
        </p:nvSpPr>
        <p:spPr>
          <a:xfrm>
            <a:off x="5998464" y="3017520"/>
            <a:ext cx="265176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20 broker pilots</a:t>
            </a:r>
            <a:endParaRPr lang="en-US" sz="1100" dirty="0"/>
          </a:p>
        </p:txBody>
      </p:sp>
      <p:sp>
        <p:nvSpPr>
          <p:cNvPr id="29" name="Text 25"/>
          <p:cNvSpPr/>
          <p:nvPr/>
        </p:nvSpPr>
        <p:spPr>
          <a:xfrm>
            <a:off x="5998464" y="3236976"/>
            <a:ext cx="2651760" cy="228600"/>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Validate B2B2C revenue model</a:t>
            </a:r>
            <a:endParaRPr lang="en-US" sz="950" dirty="0"/>
          </a:p>
        </p:txBody>
      </p:sp>
      <p:pic>
        <p:nvPicPr>
          <p:cNvPr id="30" name="Image 2" descr="preencoded.png">    </p:cNvPr>
          <p:cNvPicPr>
            <a:picLocks noChangeAspect="1"/>
          </p:cNvPicPr>
          <p:nvPr/>
        </p:nvPicPr>
        <p:blipFill>
          <a:blip r:embed="rId3"/>
          <a:stretch>
            <a:fillRect/>
          </a:stretch>
        </p:blipFill>
        <p:spPr>
          <a:xfrm>
            <a:off x="5715000" y="3639312"/>
            <a:ext cx="201168" cy="201168"/>
          </a:xfrm>
          <a:prstGeom prst="rect">
            <a:avLst/>
          </a:prstGeom>
        </p:spPr>
      </p:pic>
      <p:sp>
        <p:nvSpPr>
          <p:cNvPr id="31" name="Text 26"/>
          <p:cNvSpPr/>
          <p:nvPr/>
        </p:nvSpPr>
        <p:spPr>
          <a:xfrm>
            <a:off x="5998464" y="3584448"/>
            <a:ext cx="265176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5,000 active users</a:t>
            </a:r>
            <a:endParaRPr lang="en-US" sz="1100" dirty="0"/>
          </a:p>
        </p:txBody>
      </p:sp>
      <p:sp>
        <p:nvSpPr>
          <p:cNvPr id="32" name="Text 27"/>
          <p:cNvSpPr/>
          <p:nvPr/>
        </p:nvSpPr>
        <p:spPr>
          <a:xfrm>
            <a:off x="5998464" y="3803904"/>
            <a:ext cx="2651760" cy="228600"/>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Statistical significance on metrics</a:t>
            </a:r>
            <a:endParaRPr lang="en-US" sz="950" dirty="0"/>
          </a:p>
        </p:txBody>
      </p:sp>
      <p:pic>
        <p:nvPicPr>
          <p:cNvPr id="33" name="Image 3" descr="preencoded.png">    </p:cNvPr>
          <p:cNvPicPr>
            <a:picLocks noChangeAspect="1"/>
          </p:cNvPicPr>
          <p:nvPr/>
        </p:nvPicPr>
        <p:blipFill>
          <a:blip r:embed="rId4"/>
          <a:stretch>
            <a:fillRect/>
          </a:stretch>
        </p:blipFill>
        <p:spPr>
          <a:xfrm>
            <a:off x="5715000" y="4206240"/>
            <a:ext cx="201168" cy="201168"/>
          </a:xfrm>
          <a:prstGeom prst="rect">
            <a:avLst/>
          </a:prstGeom>
        </p:spPr>
      </p:pic>
      <p:sp>
        <p:nvSpPr>
          <p:cNvPr id="34" name="Text 28"/>
          <p:cNvSpPr/>
          <p:nvPr/>
        </p:nvSpPr>
        <p:spPr>
          <a:xfrm>
            <a:off x="5998464" y="4151376"/>
            <a:ext cx="265176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Series A readiness</a:t>
            </a:r>
            <a:endParaRPr lang="en-US" sz="1100" dirty="0"/>
          </a:p>
        </p:txBody>
      </p:sp>
      <p:sp>
        <p:nvSpPr>
          <p:cNvPr id="35" name="Text 29"/>
          <p:cNvSpPr/>
          <p:nvPr/>
        </p:nvSpPr>
        <p:spPr>
          <a:xfrm>
            <a:off x="5998464" y="4370832"/>
            <a:ext cx="2651760" cy="228600"/>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£2M ARR run rate target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4B"/>
        </a:solidFill>
      </p:bgPr>
    </p:bg>
    <p:spTree>
      <p:nvGrpSpPr>
        <p:cNvPr id="1" name=""/>
        <p:cNvGrpSpPr/>
        <p:nvPr/>
      </p:nvGrpSpPr>
      <p:grpSpPr>
        <a:xfrm>
          <a:off x="0" y="0"/>
          <a:ext cx="0" cy="0"/>
          <a:chOff x="0" y="0"/>
          <a:chExt cx="0" cy="0"/>
        </a:xfrm>
      </p:grpSpPr>
      <p:sp>
        <p:nvSpPr>
          <p:cNvPr id="2" name="Text 0"/>
          <p:cNvSpPr/>
          <p:nvPr/>
        </p:nvSpPr>
        <p:spPr>
          <a:xfrm>
            <a:off x="8046720" y="4800600"/>
            <a:ext cx="914400" cy="22860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12</a:t>
            </a:r>
            <a:endParaRPr lang="en-US" sz="900" dirty="0"/>
          </a:p>
        </p:txBody>
      </p:sp>
      <p:pic>
        <p:nvPicPr>
          <p:cNvPr id="3" name="Image 0" descr="preencoded.png">    </p:cNvPr>
          <p:cNvPicPr>
            <a:picLocks noChangeAspect="1"/>
          </p:cNvPicPr>
          <p:nvPr/>
        </p:nvPicPr>
        <p:blipFill>
          <a:blip r:embed="rId1">
            <a:alphaModFix amt="20000"/>
          </a:blip>
          <a:stretch>
            <a:fillRect/>
          </a:stretch>
        </p:blipFill>
        <p:spPr>
          <a:xfrm>
            <a:off x="5943600" y="457200"/>
            <a:ext cx="3017520" cy="3017520"/>
          </a:xfrm>
          <a:prstGeom prst="rect">
            <a:avLst/>
          </a:prstGeom>
        </p:spPr>
      </p:pic>
      <p:sp>
        <p:nvSpPr>
          <p:cNvPr id="4" name="Text 1"/>
          <p:cNvSpPr/>
          <p:nvPr/>
        </p:nvSpPr>
        <p:spPr>
          <a:xfrm>
            <a:off x="457200" y="914400"/>
            <a:ext cx="6858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400,000 people this year.</a:t>
            </a:r>
            <a:endParaRPr lang="en-US" sz="3400" dirty="0"/>
          </a:p>
        </p:txBody>
      </p:sp>
      <p:sp>
        <p:nvSpPr>
          <p:cNvPr id="5" name="Text 2"/>
          <p:cNvSpPr/>
          <p:nvPr/>
        </p:nvSpPr>
        <p:spPr>
          <a:xfrm>
            <a:off x="457200" y="1645920"/>
            <a:ext cx="6858000" cy="914400"/>
          </a:xfrm>
          <a:prstGeom prst="rect">
            <a:avLst/>
          </a:prstGeom>
          <a:noFill/>
          <a:ln/>
        </p:spPr>
        <p:txBody>
          <a:bodyPr wrap="square" lIns="0" tIns="0" rIns="0" bIns="0" rtlCol="0" anchor="ctr"/>
          <a:lstStyle/>
          <a:p>
            <a:pPr indent="0" marL="0">
              <a:buNone/>
            </a:pPr>
            <a:r>
              <a:rPr lang="en-US" sz="2200" i="1" dirty="0">
                <a:solidFill>
                  <a:srgbClr val="D6E8F7"/>
                </a:solidFill>
                <a:latin typeface="Cambria" pitchFamily="34" charset="0"/>
                <a:ea typeface="Cambria" pitchFamily="34" charset="-122"/>
                <a:cs typeface="Cambria" pitchFamily="34" charset="-120"/>
              </a:rPr>
              <a:t>Biggest financial decision of their lives.</a:t>
            </a:r>
            <a:endParaRPr lang="en-US" sz="2200" dirty="0"/>
          </a:p>
          <a:p>
            <a:pPr indent="0" marL="0">
              <a:buNone/>
            </a:pPr>
            <a:r>
              <a:rPr lang="en-US" sz="2200" i="1" dirty="0">
                <a:solidFill>
                  <a:srgbClr val="D6E8F7"/>
                </a:solidFill>
                <a:latin typeface="Cambria" pitchFamily="34" charset="0"/>
                <a:ea typeface="Cambria" pitchFamily="34" charset="-122"/>
                <a:cs typeface="Cambria" pitchFamily="34" charset="-120"/>
              </a:rPr>
              <a:t>Almost entirely alone.</a:t>
            </a:r>
            <a:endParaRPr lang="en-US" sz="2200" dirty="0"/>
          </a:p>
        </p:txBody>
      </p:sp>
      <p:sp>
        <p:nvSpPr>
          <p:cNvPr id="6" name="Text 3"/>
          <p:cNvSpPr/>
          <p:nvPr/>
        </p:nvSpPr>
        <p:spPr>
          <a:xfrm>
            <a:off x="457200" y="2697480"/>
            <a:ext cx="6858000" cy="59436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HomeReady changes that.</a:t>
            </a:r>
            <a:endParaRPr lang="en-US" sz="2600" dirty="0"/>
          </a:p>
        </p:txBody>
      </p:sp>
      <p:sp>
        <p:nvSpPr>
          <p:cNvPr id="7" name="Shape 4"/>
          <p:cNvSpPr/>
          <p:nvPr/>
        </p:nvSpPr>
        <p:spPr>
          <a:xfrm>
            <a:off x="457200" y="3456432"/>
            <a:ext cx="1097280" cy="45720"/>
          </a:xfrm>
          <a:prstGeom prst="rect">
            <a:avLst/>
          </a:prstGeom>
          <a:solidFill>
            <a:srgbClr val="3B82C4"/>
          </a:solidFill>
          <a:ln w="12700">
            <a:solidFill>
              <a:srgbClr val="3B82C4"/>
            </a:solidFill>
            <a:prstDash val="solid"/>
          </a:ln>
        </p:spPr>
      </p:sp>
      <p:sp>
        <p:nvSpPr>
          <p:cNvPr id="8" name="Text 5"/>
          <p:cNvSpPr/>
          <p:nvPr/>
        </p:nvSpPr>
        <p:spPr>
          <a:xfrm>
            <a:off x="457200" y="3611880"/>
            <a:ext cx="7772400" cy="292608"/>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hello@homeready.co.uk  ·  homeready.co.uk  ·  Deck version: June 2025</a:t>
            </a:r>
            <a:endParaRPr lang="en-US" sz="1100" dirty="0"/>
          </a:p>
        </p:txBody>
      </p:sp>
      <p:sp>
        <p:nvSpPr>
          <p:cNvPr id="9" name="Text 6"/>
          <p:cNvSpPr/>
          <p:nvPr/>
        </p:nvSpPr>
        <p:spPr>
          <a:xfrm>
            <a:off x="457200" y="4114800"/>
            <a:ext cx="8229600" cy="347472"/>
          </a:xfrm>
          <a:prstGeom prst="rect">
            <a:avLst/>
          </a:prstGeom>
          <a:noFill/>
          <a:ln/>
        </p:spPr>
        <p:txBody>
          <a:bodyPr wrap="square" lIns="0" tIns="0" rIns="0" bIns="0" rtlCol="0" anchor="ctr"/>
          <a:lstStyle/>
          <a:p>
            <a:pPr indent="0" marL="0">
              <a:buNone/>
            </a:pPr>
            <a:r>
              <a:rPr lang="en-US" sz="1050" b="1" dirty="0">
                <a:solidFill>
                  <a:srgbClr val="64748B"/>
                </a:solidFill>
                <a:latin typeface="Arial" pitchFamily="34" charset="0"/>
                <a:ea typeface="Arial" pitchFamily="34" charset="-122"/>
                <a:cs typeface="Arial" pitchFamily="34" charset="-120"/>
              </a:rPr>
              <a:t>Appendix available on request:</a:t>
            </a:r>
            <a:pPr indent="0" marL="0">
              <a:buNone/>
            </a:pPr>
            <a:r>
              <a:rPr lang="en-US" sz="1050" dirty="0">
                <a:solidFill>
                  <a:srgbClr val="64748B"/>
                </a:solidFill>
                <a:latin typeface="Arial" pitchFamily="34" charset="0"/>
                <a:ea typeface="Arial" pitchFamily="34" charset="-122"/>
                <a:cs typeface="Arial" pitchFamily="34" charset="-120"/>
              </a:rPr>
              <a:t>  Financial model  ·  Full PRD  ·  Regulatory memo  ·  User research transcripts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HomeReady — Seed Pitch</dc:title>
  <dc:subject>PptxGenJS Presentation</dc:subject>
  <dc:creator>PptxGenJS</dc:creator>
  <cp:lastModifiedBy>PptxGenJS</cp:lastModifiedBy>
  <cp:revision>1</cp:revision>
  <dcterms:created xsi:type="dcterms:W3CDTF">2026-06-24T21:20:22Z</dcterms:created>
  <dcterms:modified xsi:type="dcterms:W3CDTF">2026-06-24T21:20:22Z</dcterms:modified>
</cp:coreProperties>
</file>